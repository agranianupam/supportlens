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57A2DF-6173-E85B-B378-7DC29E1FB9C5}">
          <p14:sldIdLst>
            <p14:sldId id="256"/>
          </p14:sldIdLst>
        </p14:section>
        <p14:section name="Problem and idea" id="{003F998D-45D6-2A61-0F56-612EA16169D9}">
          <p14:sldIdLst>
            <p14:sldId id="257"/>
            <p14:sldId id="258"/>
            <p14:sldId id="259"/>
          </p14:sldIdLst>
        </p14:section>
        <p14:section name="Architecture and data" id="{BEE857A2-8A59-B373-7B83-C5654E12334C}">
          <p14:sldIdLst>
            <p14:sldId id="260"/>
            <p14:sldId id="261"/>
            <p14:sldId id="262"/>
          </p14:sldIdLst>
        </p14:section>
        <p14:section name="Prototype" id="{B01E6157-296B-E0F2-6ADB-8353822932CF}">
          <p14:sldIdLst>
            <p14:sldId id="263"/>
            <p14:sldId id="264"/>
          </p14:sldIdLst>
        </p14:section>
        <p14:section name="Evaluation" id="{3E58F88E-F54E-E6F1-1FB4-5EC51403E1F7}">
          <p14:sldIdLst>
            <p14:sldId id="265"/>
            <p14:sldId id="266"/>
            <p14:sldId id="267"/>
          </p14:sldIdLst>
        </p14:section>
        <p14:section name="Responsible AI" id="{57E769D6-33D3-A0E6-E54C-DE98F6BAA4E8}">
          <p14:sldIdLst>
            <p14:sldId id="268"/>
            <p14:sldId id="269"/>
          </p14:sldIdLst>
        </p14:section>
        <p14:section name="Wrap-up" id="{3E2C714B-779B-6284-7D53-42A5A88F1FA4}">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4C5C"/>
                </a:solidFill>
                <a:latin typeface="+mj-lt"/>
              </a:defRPr>
            </a:pPr>
            <a:r>
              <a:rPr sz="1400" b="0" i="0" u="none" strike="noStrike">
                <a:solidFill>
                  <a:srgbClr val="0F4C5C"/>
                </a:solidFill>
                <a:latin typeface="+mj-lt"/>
              </a:rPr>
              <a:t>Students per behaviour pattern</a:t>
            </a:r>
          </a:p>
        </c:rich>
      </c:tx>
      <c:overlay val="0"/>
    </c:title>
    <c:autoTitleDeleted val="0"/>
    <c:plotArea>
      <c:layout/>
      <c:barChart>
        <c:barDir val="bar"/>
        <c:grouping val="clustered"/>
        <c:varyColors val="0"/>
        <c:ser>
          <c:idx val="0"/>
          <c:order val="0"/>
          <c:tx>
            <c:strRef>
              <c:f>Sheet1!$B$1</c:f>
              <c:strCache>
                <c:ptCount val="1"/>
                <c:pt idx="0">
                  <c:v>Students</c:v>
                </c:pt>
              </c:strCache>
            </c:strRef>
          </c:tx>
          <c:spPr>
            <a:solidFill>
              <a:srgbClr val="2A9D8F"/>
            </a:solidFill>
            <a:effectLst/>
          </c:spPr>
          <c:invertIfNegative val="0"/>
          <c:dLbls>
            <c:numFmt formatCode="#,##0" sourceLinked="0"/>
            <c:spPr>
              <a:noFill/>
              <a:ln>
                <a:noFill/>
              </a:ln>
              <a:effectLst/>
            </c:spPr>
            <c:txPr>
              <a:bodyPr/>
              <a:lstStyle/>
              <a:p>
                <a:pPr>
                  <a:defRPr sz="12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Steady performer</c:v>
                </c:pt>
                <c:pt idx="1">
                  <c:v>Average / variable</c:v>
                </c:pt>
                <c:pt idx="2">
                  <c:v>Gradual decliner</c:v>
                </c:pt>
                <c:pt idx="3">
                  <c:v>Chronic low</c:v>
                </c:pt>
                <c:pt idx="4">
                  <c:v>Sudden dropper</c:v>
                </c:pt>
                <c:pt idx="5">
                  <c:v>Strong but irregular</c:v>
                </c:pt>
                <c:pt idx="6">
                  <c:v>Recovering</c:v>
                </c:pt>
              </c:strCache>
            </c:strRef>
          </c:cat>
          <c:val>
            <c:numRef>
              <c:f>Sheet1!$B$2:$B$8</c:f>
              <c:numCache>
                <c:formatCode>General</c:formatCode>
                <c:ptCount val="7"/>
                <c:pt idx="0">
                  <c:v>50</c:v>
                </c:pt>
                <c:pt idx="1">
                  <c:v>20</c:v>
                </c:pt>
                <c:pt idx="2">
                  <c:v>10</c:v>
                </c:pt>
                <c:pt idx="3">
                  <c:v>8</c:v>
                </c:pt>
                <c:pt idx="4">
                  <c:v>5</c:v>
                </c:pt>
                <c:pt idx="5">
                  <c:v>4</c:v>
                </c:pt>
                <c:pt idx="6">
                  <c:v>3</c:v>
                </c:pt>
              </c:numCache>
            </c:numRef>
          </c:val>
          <c:extLst>
            <c:ext xmlns:c16="http://schemas.microsoft.com/office/drawing/2014/chart" uri="{C3380CC4-5D6E-409C-BE32-E72D297353CC}">
              <c16:uniqueId val="{00000000-ED25-487E-934A-8C280D339C49}"/>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4C5C"/>
                </a:solidFill>
                <a:latin typeface="+mj-lt"/>
              </a:defRPr>
            </a:pPr>
            <a:r>
              <a:rPr lang="en-IN" sz="1400" b="0" i="0" u="none" strike="noStrike">
                <a:solidFill>
                  <a:srgbClr val="0F4C5C"/>
                </a:solidFill>
                <a:latin typeface="+mj-lt"/>
              </a:rPr>
              <a:t>Rules vs single-signal baselines</a:t>
            </a:r>
          </a:p>
        </c:rich>
      </c:tx>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2A9D8F"/>
            </a:solidFill>
            <a:effectLst/>
          </c:spPr>
          <c:invertIfNegative val="0"/>
          <c:dLbls>
            <c:numFmt formatCode="0.00" sourceLinked="0"/>
            <c:spPr>
              <a:noFill/>
              <a:ln>
                <a:noFill/>
              </a:ln>
              <a:effectLst/>
            </c:spPr>
            <c:txPr>
              <a:bodyPr/>
              <a:lstStyle/>
              <a:p>
                <a:pPr>
                  <a:defRPr sz="12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Rule engine</c:v>
                </c:pt>
                <c:pt idx="1">
                  <c:v>Attendance &lt; 75%</c:v>
                </c:pt>
                <c:pt idx="2">
                  <c:v>Quiz &lt; 50%</c:v>
                </c:pt>
              </c:strCache>
            </c:strRef>
          </c:cat>
          <c:val>
            <c:numRef>
              <c:f>Sheet1!$B$2:$B$4</c:f>
              <c:numCache>
                <c:formatCode>General</c:formatCode>
                <c:ptCount val="3"/>
                <c:pt idx="0">
                  <c:v>1</c:v>
                </c:pt>
                <c:pt idx="1">
                  <c:v>0.78</c:v>
                </c:pt>
                <c:pt idx="2">
                  <c:v>1</c:v>
                </c:pt>
              </c:numCache>
            </c:numRef>
          </c:val>
          <c:extLst>
            <c:ext xmlns:c16="http://schemas.microsoft.com/office/drawing/2014/chart" uri="{C3380CC4-5D6E-409C-BE32-E72D297353CC}">
              <c16:uniqueId val="{00000000-836B-4E12-B141-4E926EC6672E}"/>
            </c:ext>
          </c:extLst>
        </c:ser>
        <c:ser>
          <c:idx val="1"/>
          <c:order val="1"/>
          <c:tx>
            <c:strRef>
              <c:f>Sheet1!$C$1</c:f>
              <c:strCache>
                <c:ptCount val="1"/>
                <c:pt idx="0">
                  <c:v>Recall</c:v>
                </c:pt>
              </c:strCache>
            </c:strRef>
          </c:tx>
          <c:spPr>
            <a:solidFill>
              <a:srgbClr val="F4A261"/>
            </a:solidFill>
            <a:effectLst/>
          </c:spPr>
          <c:invertIfNegative val="0"/>
          <c:dLbls>
            <c:numFmt formatCode="0.00" sourceLinked="0"/>
            <c:spPr>
              <a:noFill/>
              <a:ln>
                <a:noFill/>
              </a:ln>
              <a:effectLst/>
            </c:spPr>
            <c:txPr>
              <a:bodyPr/>
              <a:lstStyle/>
              <a:p>
                <a:pPr>
                  <a:defRPr sz="12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Rule engine</c:v>
                </c:pt>
                <c:pt idx="1">
                  <c:v>Attendance &lt; 75%</c:v>
                </c:pt>
                <c:pt idx="2">
                  <c:v>Quiz &lt; 50%</c:v>
                </c:pt>
              </c:strCache>
            </c:strRef>
          </c:cat>
          <c:val>
            <c:numRef>
              <c:f>Sheet1!$C$2:$C$4</c:f>
              <c:numCache>
                <c:formatCode>General</c:formatCode>
                <c:ptCount val="3"/>
                <c:pt idx="0">
                  <c:v>0.79</c:v>
                </c:pt>
                <c:pt idx="1">
                  <c:v>0.86</c:v>
                </c:pt>
                <c:pt idx="2">
                  <c:v>0.28000000000000003</c:v>
                </c:pt>
              </c:numCache>
            </c:numRef>
          </c:val>
          <c:extLst>
            <c:ext xmlns:c16="http://schemas.microsoft.com/office/drawing/2014/chart" uri="{C3380CC4-5D6E-409C-BE32-E72D297353CC}">
              <c16:uniqueId val="{00000001-836B-4E12-B141-4E926EC6672E}"/>
            </c:ext>
          </c:extLst>
        </c:ser>
        <c:ser>
          <c:idx val="2"/>
          <c:order val="2"/>
          <c:tx>
            <c:strRef>
              <c:f>Sheet1!$D$1</c:f>
              <c:strCache>
                <c:ptCount val="1"/>
                <c:pt idx="0">
                  <c:v>F1</c:v>
                </c:pt>
              </c:strCache>
            </c:strRef>
          </c:tx>
          <c:spPr>
            <a:solidFill>
              <a:srgbClr val="0F4C5C"/>
            </a:solidFill>
            <a:effectLst/>
          </c:spPr>
          <c:invertIfNegative val="0"/>
          <c:dLbls>
            <c:numFmt formatCode="0.00" sourceLinked="0"/>
            <c:spPr>
              <a:noFill/>
              <a:ln>
                <a:noFill/>
              </a:ln>
              <a:effectLst/>
            </c:spPr>
            <c:txPr>
              <a:bodyPr/>
              <a:lstStyle/>
              <a:p>
                <a:pPr>
                  <a:defRPr sz="12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Rule engine</c:v>
                </c:pt>
                <c:pt idx="1">
                  <c:v>Attendance &lt; 75%</c:v>
                </c:pt>
                <c:pt idx="2">
                  <c:v>Quiz &lt; 50%</c:v>
                </c:pt>
              </c:strCache>
            </c:strRef>
          </c:cat>
          <c:val>
            <c:numRef>
              <c:f>Sheet1!$D$2:$D$4</c:f>
              <c:numCache>
                <c:formatCode>General</c:formatCode>
                <c:ptCount val="3"/>
                <c:pt idx="0">
                  <c:v>0.88500000000000001</c:v>
                </c:pt>
                <c:pt idx="1">
                  <c:v>0.82</c:v>
                </c:pt>
                <c:pt idx="2">
                  <c:v>0.432</c:v>
                </c:pt>
              </c:numCache>
            </c:numRef>
          </c:val>
          <c:extLst>
            <c:ext xmlns:c16="http://schemas.microsoft.com/office/drawing/2014/chart" uri="{C3380CC4-5D6E-409C-BE32-E72D297353CC}">
              <c16:uniqueId val="{00000002-836B-4E12-B141-4E926EC6672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lblOffset val="100"/>
        <c:noMultiLvlLbl val="1"/>
      </c:catAx>
      <c:valAx>
        <c:axId val="2094734552"/>
        <c:scaling>
          <c:orientation val="minMax"/>
          <c:max val="1.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4C5C"/>
                </a:solidFill>
                <a:latin typeface="+mj-lt"/>
              </a:defRPr>
            </a:pPr>
            <a:r>
              <a:rPr lang="en-IN" sz="1400" b="0" i="0" u="none" strike="noStrike">
                <a:solidFill>
                  <a:srgbClr val="0F4C5C"/>
                </a:solidFill>
                <a:latin typeface="+mj-lt"/>
              </a:rPr>
              <a:t>Flag rate by group (%)</a:t>
            </a:r>
          </a:p>
        </c:rich>
      </c:tx>
      <c:overlay val="0"/>
    </c:title>
    <c:autoTitleDeleted val="0"/>
    <c:plotArea>
      <c:layout/>
      <c:barChart>
        <c:barDir val="col"/>
        <c:grouping val="clustered"/>
        <c:varyColors val="0"/>
        <c:ser>
          <c:idx val="0"/>
          <c:order val="0"/>
          <c:tx>
            <c:strRef>
              <c:f>Sheet1!$B$1</c:f>
              <c:strCache>
                <c:ptCount val="1"/>
                <c:pt idx="0">
                  <c:v>Flag rate %</c:v>
                </c:pt>
              </c:strCache>
            </c:strRef>
          </c:tx>
          <c:spPr>
            <a:solidFill>
              <a:srgbClr val="2A9D8F"/>
            </a:solidFill>
            <a:effectLst/>
          </c:spPr>
          <c:invertIfNegative val="0"/>
          <c:dLbls>
            <c:numFmt formatCode="#,##0" sourceLinked="0"/>
            <c:spPr>
              <a:noFill/>
              <a:ln>
                <a:noFill/>
              </a:ln>
              <a:effectLst/>
            </c:spPr>
            <c:txPr>
              <a:bodyPr/>
              <a:lstStyle/>
              <a:p>
                <a:pPr>
                  <a:defRPr sz="12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Section A</c:v>
                </c:pt>
                <c:pt idx="1">
                  <c:v>Section B</c:v>
                </c:pt>
                <c:pt idx="2">
                  <c:v>Section C</c:v>
                </c:pt>
              </c:strCache>
            </c:strRef>
          </c:cat>
          <c:val>
            <c:numRef>
              <c:f>Sheet1!$B$2:$B$4</c:f>
              <c:numCache>
                <c:formatCode>General</c:formatCode>
                <c:ptCount val="3"/>
                <c:pt idx="0">
                  <c:v>28.6</c:v>
                </c:pt>
                <c:pt idx="1">
                  <c:v>17.600000000000001</c:v>
                </c:pt>
                <c:pt idx="2">
                  <c:v>20.8</c:v>
                </c:pt>
              </c:numCache>
            </c:numRef>
          </c:val>
          <c:extLst>
            <c:ext xmlns:c16="http://schemas.microsoft.com/office/drawing/2014/chart" uri="{C3380CC4-5D6E-409C-BE32-E72D297353CC}">
              <c16:uniqueId val="{00000000-A303-48D9-BB02-077C379109F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lblOffset val="100"/>
        <c:noMultiLvlLbl val="1"/>
      </c:catAx>
      <c:valAx>
        <c:axId val="2094734552"/>
        <c:scaling>
          <c:orientation val="minMax"/>
          <c:max val="4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032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idea: SupportLens helps coordinators notice students who may welcome a supportive conversation, early, with reasons in plain English and a human always deciding.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Behavioural signals show trouble before grades do, but they sit in separate spreadsheets. The shortcut 'flag anyone under 75% attendance' mixes up very different students. Four kinds of users benefit.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transparent rules, an ML second opinion, protective rules against false alarms, and compulsory human review with a permanent record.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set it apart. Emphasise missing is never zero, and that guardrails are enforced in code and covered by tests.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left to right. Each stage is its own module so it can be tested alone. The audit log feeds back so on-screen status always reflects the human decision.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student data cannot be shared, and synthetic data gives us an answer key. No names, emails or institutional IDs. Seven behaviour patterns, plus realistic defects. Labels are used only for evaluation.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concern rules in four families add points; the total maps to a level. Protective rules subtract points or cap the level. Only Suggest Outreach and Priority Check-in count as flags.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weekly review in seven steps. The Student Detail page has ready-made demo cases for the live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S-0084 at week 10, flagged with full reasons. Right: a strong-but-irregular student with low attendance but strong quizzes who is protected by M1. In both cases the coordinator can correct or dismiss.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100 students, 29 truly in need. Rule engine: no false positives, 6 missed. Attendance-only finds a few more but with 7 false alarms and 32% flagged. Quiz-only misses 21 of 29. ML rows include training data so they are optimistic; held-out AUC 0.974 is the fair number.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failures as well as successes. Six students missed, all average/variable; their labels are a random 20% draw. First flag averages week 7.0 (not 5.8 as in earlier demo notes). M1 and M2 removed two false positives.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Stable across five seeds (F1 0.84–0.96, alert burden 21–23%) and degrades gracefully under missing data without inventing false alarms. Section flag rates range from 17.6% to 28.6%; Section B recall is 0.60 on ten students, showing sensitivity to small group sizes. Note: Evaluated on synthetic student data; real-world fairness requires institutional auditing.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bias, security, accessibility and human oversight. Be upfront that login, encryption and a formal WCAG audit are still planned.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4 is the strongest link. SDG 10 is modest: measuring a gap is not closing it. SDG 3 is indirect and SupportLens is not a mental-health tool.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what is implemented versus planned. The prototype is complete on synthetic data; real-data validation, security and accessibility come next.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line: the aim is never to rank or punish students but to make sure nobody who needs a hand goes unnoticed.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SupportLens  |  VIT  AI Innovate-A-Thon</a:t>
            </a:r>
            <a:endParaRPr lang="en-US" sz="1000" dirty="0"/>
          </a:p>
        </p:txBody>
      </p:sp>
      <p:sp>
        <p:nvSpPr>
          <p:cNvPr id="3" name="Text 1"/>
          <p:cNvSpPr>
            <a:spLocks noGrp="1"/>
          </p:cNvSpPr>
          <p:nvPr>
            <p:ph type="title" idx="101" hasCustomPrompt="1"/>
          </p:nvPr>
        </p:nvSpPr>
        <p:spPr>
          <a:xfrm>
            <a:off x="548640" y="320040"/>
            <a:ext cx="11064240" cy="868680"/>
          </a:xfrm>
          <a:prstGeom prst="rect">
            <a:avLst/>
          </a:prstGeom>
          <a:noFill/>
          <a:ln/>
        </p:spPr>
        <p:txBody>
          <a:bodyPr wrap="square" rtlCol="0"/>
          <a:lstStyle>
            <a:lvl1pPr marL="0" indent="0" algn="l">
              <a:buNone/>
              <a:defRPr lang="en-US" sz="36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4C5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188720"/>
          </a:xfrm>
          <a:prstGeom prst="rect">
            <a:avLst/>
          </a:prstGeom>
          <a:noFill/>
          <a:ln/>
        </p:spPr>
        <p:txBody>
          <a:bodyPr wrap="square" rtlCol="0"/>
          <a:lstStyle>
            <a:lvl1pPr marL="0" indent="0" algn="l">
              <a:buNone/>
              <a:defRPr lang="en-US" sz="5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10698480" cy="365760"/>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VIT  |  AI INNOVATE-A-THON  ·  ARTIFICIAL INTELLIGENCE BITE308L</a:t>
            </a:r>
            <a:endParaRPr lang="en-US" sz="1400" dirty="0"/>
          </a:p>
        </p:txBody>
      </p:sp>
      <p:sp>
        <p:nvSpPr>
          <p:cNvPr id="3" name="Text 0"/>
          <p:cNvSpPr>
            <a:spLocks noGrp="1"/>
          </p:cNvSpPr>
          <p:nvPr>
            <p:ph type="title" idx="100" hasCustomPrompt="1"/>
          </p:nvPr>
        </p:nvSpPr>
        <p:spPr>
          <a:xfrm>
            <a:off x="731520" y="1737360"/>
            <a:ext cx="10698480" cy="1188720"/>
          </a:xfrm>
          <a:prstGeom prst="rect">
            <a:avLst/>
          </a:prstGeom>
          <a:noFill/>
          <a:ln/>
        </p:spPr>
        <p:txBody>
          <a:bodyPr wrap="square" lIns="0" tIns="0" rIns="0" bIns="0" rtlCol="0" anchor="ctr"/>
          <a:lstStyle/>
          <a:p>
            <a:pPr marL="0" indent="0" algn="l">
              <a:buNone/>
            </a:pPr>
            <a:r>
              <a:rPr lang="en-US" sz="5400" b="1" dirty="0">
                <a:solidFill>
                  <a:schemeClr val="bg1"/>
                </a:solidFill>
                <a:latin typeface="Cambria" pitchFamily="34" charset="0"/>
                <a:ea typeface="Cambria" pitchFamily="34" charset="-122"/>
                <a:cs typeface="Cambria" pitchFamily="34" charset="-120"/>
              </a:rPr>
              <a:t>SupportLens</a:t>
            </a:r>
            <a:endParaRPr lang="en-US" sz="5400" dirty="0"/>
          </a:p>
        </p:txBody>
      </p:sp>
      <p:sp>
        <p:nvSpPr>
          <p:cNvPr id="4" name="Text 2"/>
          <p:cNvSpPr txBox="1"/>
          <p:nvPr/>
        </p:nvSpPr>
        <p:spPr>
          <a:xfrm>
            <a:off x="731520" y="3017520"/>
            <a:ext cx="8686800" cy="914400"/>
          </a:xfrm>
          <a:prstGeom prst="rect">
            <a:avLst/>
          </a:prstGeom>
          <a:noFill/>
          <a:ln/>
        </p:spPr>
        <p:txBody>
          <a:bodyPr wrap="square" lIns="0" tIns="0" rIns="0" bIns="0" rtlCol="0" anchor="t"/>
          <a:lstStyle/>
          <a:p>
            <a:pPr marL="0" indent="0">
              <a:buNone/>
            </a:pPr>
            <a:r>
              <a:rPr lang="en-US" sz="2400" dirty="0">
                <a:solidFill>
                  <a:schemeClr val="bg2"/>
                </a:solidFill>
                <a:latin typeface="Calibri" pitchFamily="34" charset="0"/>
                <a:ea typeface="Calibri" pitchFamily="34" charset="-122"/>
                <a:cs typeface="Calibri" pitchFamily="34" charset="-120"/>
              </a:rPr>
              <a:t>An explainable, human-in-the-loop early-warning system for supportive academic outreach</a:t>
            </a:r>
            <a:endParaRPr lang="en-US" sz="2400" dirty="0"/>
          </a:p>
        </p:txBody>
      </p:sp>
      <p:sp>
        <p:nvSpPr>
          <p:cNvPr id="5" name="Text 3"/>
          <p:cNvSpPr txBox="1"/>
          <p:nvPr/>
        </p:nvSpPr>
        <p:spPr>
          <a:xfrm>
            <a:off x="731520" y="4754880"/>
            <a:ext cx="5486400" cy="1005840"/>
          </a:xfrm>
          <a:prstGeom prst="rect">
            <a:avLst/>
          </a:prstGeom>
          <a:noFill/>
          <a:ln/>
        </p:spPr>
        <p:txBody>
          <a:bodyPr wrap="square" lIns="0" tIns="0" rIns="0" bIns="0" rtlCol="0" anchor="t"/>
          <a:lstStyle/>
          <a:p>
            <a:pPr marL="0" indent="0">
              <a:spcAft>
                <a:spcPts val="400"/>
              </a:spcAft>
              <a:buNone/>
            </a:pPr>
            <a:r>
              <a:rPr lang="en-US" sz="1600" dirty="0">
                <a:solidFill>
                  <a:schemeClr val="bg1"/>
                </a:solidFill>
                <a:latin typeface="Calibri" pitchFamily="34" charset="0"/>
                <a:ea typeface="Calibri" pitchFamily="34" charset="-122"/>
                <a:cs typeface="Calibri" pitchFamily="34" charset="-120"/>
              </a:rPr>
              <a:t>Arpita Sinha  ·  24BIT0196</a:t>
            </a:r>
            <a:endParaRPr lang="en-US" sz="1600" dirty="0"/>
          </a:p>
          <a:p>
            <a:pPr marL="0" indent="0">
              <a:spcAft>
                <a:spcPts val="400"/>
              </a:spcAft>
              <a:buNone/>
            </a:pPr>
            <a:r>
              <a:rPr lang="en-US" sz="1600" dirty="0">
                <a:solidFill>
                  <a:schemeClr val="bg1"/>
                </a:solidFill>
                <a:latin typeface="Calibri" pitchFamily="34" charset="0"/>
                <a:ea typeface="Calibri" pitchFamily="34" charset="-122"/>
                <a:cs typeface="Calibri" pitchFamily="34" charset="-120"/>
              </a:rPr>
              <a:t>Avani Abhay Chaudhari  ·  24BIT0463</a:t>
            </a:r>
            <a:endParaRPr lang="en-US" sz="1600" dirty="0"/>
          </a:p>
          <a:p>
            <a:pPr marL="0" indent="0">
              <a:spcAft>
                <a:spcPts val="400"/>
              </a:spcAft>
              <a:buNone/>
            </a:pPr>
            <a:r>
              <a:rPr lang="en-US" sz="1600" dirty="0">
                <a:solidFill>
                  <a:schemeClr val="bg1"/>
                </a:solidFill>
                <a:latin typeface="Calibri" pitchFamily="34" charset="0"/>
                <a:ea typeface="Calibri" pitchFamily="34" charset="-122"/>
                <a:cs typeface="Calibri" pitchFamily="34" charset="-120"/>
              </a:rPr>
              <a:t>Agrani Anupam  ·  24BIT0539</a:t>
            </a:r>
            <a:endParaRPr lang="en-US" sz="1600" dirty="0"/>
          </a:p>
        </p:txBody>
      </p:sp>
      <p:pic>
        <p:nvPicPr>
          <p:cNvPr id="6" name="Image 0" descr="Helping hands icon"/>
          <p:cNvPicPr>
            <a:picLocks noChangeAspect="1"/>
          </p:cNvPicPr>
          <p:nvPr/>
        </p:nvPicPr>
        <p:blipFill>
          <a:blip r:embed="rId3"/>
          <a:stretch>
            <a:fillRect/>
          </a:stretch>
        </p:blipFill>
        <p:spPr>
          <a:xfrm>
            <a:off x="9692640" y="4480560"/>
            <a:ext cx="1554480" cy="1554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The problem and who it is for</a:t>
            </a:r>
            <a:endParaRPr lang="en-US" sz="3600" dirty="0"/>
          </a:p>
        </p:txBody>
      </p:sp>
      <p:sp>
        <p:nvSpPr>
          <p:cNvPr id="4" name="Text 1"/>
          <p:cNvSpPr txBox="1"/>
          <p:nvPr/>
        </p:nvSpPr>
        <p:spPr>
          <a:xfrm>
            <a:off x="548640" y="1463040"/>
            <a:ext cx="4937760" cy="137160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Students who slip in week 4 are often noticed only after the mid-semester exam, when catching up is much harder.</a:t>
            </a:r>
            <a:endParaRPr lang="en-US" sz="1800" dirty="0"/>
          </a:p>
        </p:txBody>
      </p:sp>
      <p:sp>
        <p:nvSpPr>
          <p:cNvPr id="5" name="naive rule card"/>
          <p:cNvSpPr/>
          <p:nvPr/>
        </p:nvSpPr>
        <p:spPr>
          <a:xfrm>
            <a:off x="548640" y="3017520"/>
            <a:ext cx="4937760" cy="3108960"/>
          </a:xfrm>
          <a:prstGeom prst="roundRect">
            <a:avLst>
              <a:gd name="adj" fmla="val 3529"/>
            </a:avLst>
          </a:prstGeom>
          <a:solidFill>
            <a:schemeClr val="bg2"/>
          </a:solidFill>
          <a:ln/>
          <a:effectLst>
            <a:outerShdw blurRad="101600" dist="25400" dir="5400000" algn="bl" rotWithShape="0">
              <a:srgbClr val="000000">
                <a:alpha val="12000"/>
              </a:srgbClr>
            </a:outerShdw>
          </a:effectLst>
        </p:spPr>
      </p:sp>
      <p:sp>
        <p:nvSpPr>
          <p:cNvPr id="6" name="Text 3"/>
          <p:cNvSpPr txBox="1"/>
          <p:nvPr/>
        </p:nvSpPr>
        <p:spPr>
          <a:xfrm>
            <a:off x="777240" y="3200400"/>
            <a:ext cx="45720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Why “attendance &lt; 75%” fails</a:t>
            </a:r>
            <a:endParaRPr lang="en-US" sz="1600" dirty="0"/>
          </a:p>
        </p:txBody>
      </p:sp>
      <p:sp>
        <p:nvSpPr>
          <p:cNvPr id="7" name="Text 4"/>
          <p:cNvSpPr txBox="1"/>
          <p:nvPr/>
        </p:nvSpPr>
        <p:spPr>
          <a:xfrm>
            <a:off x="777240" y="3657600"/>
            <a:ext cx="448056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Struggling on every front and an autonomous student with 88% quizzes get the same alert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Quiet strugglers go unnoticed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Capable students feel watched and staff drown in false alarms</a:t>
            </a:r>
            <a:endParaRPr lang="en-US" sz="1500" dirty="0"/>
          </a:p>
        </p:txBody>
      </p:sp>
      <p:sp>
        <p:nvSpPr>
          <p:cNvPr id="8" name="Course coordinator card"/>
          <p:cNvSpPr/>
          <p:nvPr/>
        </p:nvSpPr>
        <p:spPr>
          <a:xfrm>
            <a:off x="5852160" y="1463040"/>
            <a:ext cx="274320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9" name="FaChalkboardTeacher badge"/>
          <p:cNvSpPr/>
          <p:nvPr/>
        </p:nvSpPr>
        <p:spPr>
          <a:xfrm>
            <a:off x="6080760" y="1691640"/>
            <a:ext cx="640080" cy="640080"/>
          </a:xfrm>
          <a:prstGeom prst="ellipse">
            <a:avLst/>
          </a:prstGeom>
          <a:solidFill>
            <a:srgbClr val="0F4C5C"/>
          </a:solidFill>
          <a:ln/>
        </p:spPr>
      </p:sp>
      <p:pic>
        <p:nvPicPr>
          <p:cNvPr id="10" name="Image 0" descr="ChalkboardTeacher icon"/>
          <p:cNvPicPr>
            <a:picLocks noChangeAspect="1"/>
          </p:cNvPicPr>
          <p:nvPr/>
        </p:nvPicPr>
        <p:blipFill>
          <a:blip r:embed="rId3"/>
          <a:stretch>
            <a:fillRect/>
          </a:stretch>
        </p:blipFill>
        <p:spPr>
          <a:xfrm>
            <a:off x="6240780" y="1851660"/>
            <a:ext cx="320040" cy="320040"/>
          </a:xfrm>
          <a:prstGeom prst="rect">
            <a:avLst/>
          </a:prstGeom>
        </p:spPr>
      </p:pic>
      <p:sp>
        <p:nvSpPr>
          <p:cNvPr id="11" name="Text 7"/>
          <p:cNvSpPr txBox="1"/>
          <p:nvPr/>
        </p:nvSpPr>
        <p:spPr>
          <a:xfrm>
            <a:off x="6080760" y="2468880"/>
            <a:ext cx="22860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Course coordinator</a:t>
            </a:r>
            <a:endParaRPr lang="en-US" sz="1600" dirty="0"/>
          </a:p>
        </p:txBody>
      </p:sp>
      <p:sp>
        <p:nvSpPr>
          <p:cNvPr id="12" name="Text 8"/>
          <p:cNvSpPr txBox="1"/>
          <p:nvPr/>
        </p:nvSpPr>
        <p:spPr>
          <a:xfrm>
            <a:off x="6080760" y="2834640"/>
            <a:ext cx="233172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short, ranked list to contact this week</a:t>
            </a:r>
            <a:endParaRPr lang="en-US" sz="1400" dirty="0"/>
          </a:p>
        </p:txBody>
      </p:sp>
      <p:sp>
        <p:nvSpPr>
          <p:cNvPr id="13" name="Mentor or tutor card"/>
          <p:cNvSpPr/>
          <p:nvPr/>
        </p:nvSpPr>
        <p:spPr>
          <a:xfrm>
            <a:off x="8778240" y="1463040"/>
            <a:ext cx="274320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14" name="FaUserGraduate badge"/>
          <p:cNvSpPr/>
          <p:nvPr/>
        </p:nvSpPr>
        <p:spPr>
          <a:xfrm>
            <a:off x="9006840" y="1691640"/>
            <a:ext cx="640080" cy="640080"/>
          </a:xfrm>
          <a:prstGeom prst="ellipse">
            <a:avLst/>
          </a:prstGeom>
          <a:solidFill>
            <a:srgbClr val="0F4C5C"/>
          </a:solidFill>
          <a:ln/>
        </p:spPr>
      </p:sp>
      <p:pic>
        <p:nvPicPr>
          <p:cNvPr id="15" name="Image 1" descr="UserGraduate icon"/>
          <p:cNvPicPr>
            <a:picLocks noChangeAspect="1"/>
          </p:cNvPicPr>
          <p:nvPr/>
        </p:nvPicPr>
        <p:blipFill>
          <a:blip r:embed="rId4"/>
          <a:stretch>
            <a:fillRect/>
          </a:stretch>
        </p:blipFill>
        <p:spPr>
          <a:xfrm>
            <a:off x="9166860" y="1851660"/>
            <a:ext cx="320040" cy="320040"/>
          </a:xfrm>
          <a:prstGeom prst="rect">
            <a:avLst/>
          </a:prstGeom>
        </p:spPr>
      </p:pic>
      <p:sp>
        <p:nvSpPr>
          <p:cNvPr id="16" name="Text 11"/>
          <p:cNvSpPr txBox="1"/>
          <p:nvPr/>
        </p:nvSpPr>
        <p:spPr>
          <a:xfrm>
            <a:off x="9006840" y="2468880"/>
            <a:ext cx="22860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Mentor or tutor</a:t>
            </a:r>
            <a:endParaRPr lang="en-US" sz="1600" dirty="0"/>
          </a:p>
        </p:txBody>
      </p:sp>
      <p:sp>
        <p:nvSpPr>
          <p:cNvPr id="17" name="Text 12"/>
          <p:cNvSpPr txBox="1"/>
          <p:nvPr/>
        </p:nvSpPr>
        <p:spPr>
          <a:xfrm>
            <a:off x="9006840" y="2834640"/>
            <a:ext cx="233172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Trends, reasons and strengths before a chat</a:t>
            </a:r>
            <a:endParaRPr lang="en-US" sz="1400" dirty="0"/>
          </a:p>
        </p:txBody>
      </p:sp>
      <p:sp>
        <p:nvSpPr>
          <p:cNvPr id="18" name="Programme leader card"/>
          <p:cNvSpPr/>
          <p:nvPr/>
        </p:nvSpPr>
        <p:spPr>
          <a:xfrm>
            <a:off x="5852160" y="3931920"/>
            <a:ext cx="274320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19" name="FaBalanceScale badge"/>
          <p:cNvSpPr/>
          <p:nvPr/>
        </p:nvSpPr>
        <p:spPr>
          <a:xfrm>
            <a:off x="6080760" y="4160520"/>
            <a:ext cx="640080" cy="640080"/>
          </a:xfrm>
          <a:prstGeom prst="ellipse">
            <a:avLst/>
          </a:prstGeom>
          <a:solidFill>
            <a:srgbClr val="0F4C5C"/>
          </a:solidFill>
          <a:ln/>
        </p:spPr>
      </p:sp>
      <p:pic>
        <p:nvPicPr>
          <p:cNvPr id="20" name="Image 2" descr="BalanceScale icon"/>
          <p:cNvPicPr>
            <a:picLocks noChangeAspect="1"/>
          </p:cNvPicPr>
          <p:nvPr/>
        </p:nvPicPr>
        <p:blipFill>
          <a:blip r:embed="rId5"/>
          <a:stretch>
            <a:fillRect/>
          </a:stretch>
        </p:blipFill>
        <p:spPr>
          <a:xfrm>
            <a:off x="6240780" y="4320540"/>
            <a:ext cx="320040" cy="320040"/>
          </a:xfrm>
          <a:prstGeom prst="rect">
            <a:avLst/>
          </a:prstGeom>
        </p:spPr>
      </p:pic>
      <p:sp>
        <p:nvSpPr>
          <p:cNvPr id="21" name="Text 15"/>
          <p:cNvSpPr txBox="1"/>
          <p:nvPr/>
        </p:nvSpPr>
        <p:spPr>
          <a:xfrm>
            <a:off x="6080760" y="4937760"/>
            <a:ext cx="22860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Programme leader</a:t>
            </a:r>
            <a:endParaRPr lang="en-US" sz="1600" dirty="0"/>
          </a:p>
        </p:txBody>
      </p:sp>
      <p:sp>
        <p:nvSpPr>
          <p:cNvPr id="22" name="Text 16"/>
          <p:cNvSpPr txBox="1"/>
          <p:nvPr/>
        </p:nvSpPr>
        <p:spPr>
          <a:xfrm>
            <a:off x="6080760" y="5303520"/>
            <a:ext cx="233172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Evidence the process is fair and accountable</a:t>
            </a:r>
            <a:endParaRPr lang="en-US" sz="1400" dirty="0"/>
          </a:p>
        </p:txBody>
      </p:sp>
      <p:sp>
        <p:nvSpPr>
          <p:cNvPr id="23" name="Student-support staff card"/>
          <p:cNvSpPr/>
          <p:nvPr/>
        </p:nvSpPr>
        <p:spPr>
          <a:xfrm>
            <a:off x="8778240" y="3931920"/>
            <a:ext cx="274320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24" name="FaHandsHelping badge"/>
          <p:cNvSpPr/>
          <p:nvPr/>
        </p:nvSpPr>
        <p:spPr>
          <a:xfrm>
            <a:off x="9006840" y="4160520"/>
            <a:ext cx="640080" cy="640080"/>
          </a:xfrm>
          <a:prstGeom prst="ellipse">
            <a:avLst/>
          </a:prstGeom>
          <a:solidFill>
            <a:srgbClr val="0F4C5C"/>
          </a:solidFill>
          <a:ln/>
        </p:spPr>
      </p:sp>
      <p:pic>
        <p:nvPicPr>
          <p:cNvPr id="25" name="Image 3" descr="HandsHelping icon"/>
          <p:cNvPicPr>
            <a:picLocks noChangeAspect="1"/>
          </p:cNvPicPr>
          <p:nvPr/>
        </p:nvPicPr>
        <p:blipFill>
          <a:blip r:embed="rId6"/>
          <a:stretch>
            <a:fillRect/>
          </a:stretch>
        </p:blipFill>
        <p:spPr>
          <a:xfrm>
            <a:off x="9166860" y="4320540"/>
            <a:ext cx="320040" cy="320040"/>
          </a:xfrm>
          <a:prstGeom prst="rect">
            <a:avLst/>
          </a:prstGeom>
        </p:spPr>
      </p:pic>
      <p:sp>
        <p:nvSpPr>
          <p:cNvPr id="26" name="Text 19"/>
          <p:cNvSpPr txBox="1"/>
          <p:nvPr/>
        </p:nvSpPr>
        <p:spPr>
          <a:xfrm>
            <a:off x="9006840" y="4937760"/>
            <a:ext cx="22860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Student-support staff</a:t>
            </a:r>
            <a:endParaRPr lang="en-US" sz="1600" dirty="0"/>
          </a:p>
        </p:txBody>
      </p:sp>
      <p:sp>
        <p:nvSpPr>
          <p:cNvPr id="27" name="Text 20"/>
          <p:cNvSpPr txBox="1"/>
          <p:nvPr/>
        </p:nvSpPr>
        <p:spPr>
          <a:xfrm>
            <a:off x="9006840" y="5303520"/>
            <a:ext cx="233172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Well-reasoned, recorded referrals</a:t>
            </a:r>
            <a:endParaRPr lang="en-US" sz="1400" dirty="0"/>
          </a:p>
        </p:txBody>
      </p:sp>
      <p:sp>
        <p:nvSpPr>
          <p:cNvPr id="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Our idea: four parts, one rule</a:t>
            </a:r>
            <a:endParaRPr lang="en-US" sz="3600" dirty="0"/>
          </a:p>
        </p:txBody>
      </p:sp>
      <p:sp>
        <p:nvSpPr>
          <p:cNvPr id="4" name="Transparent rules card"/>
          <p:cNvSpPr/>
          <p:nvPr/>
        </p:nvSpPr>
        <p:spPr>
          <a:xfrm>
            <a:off x="548640" y="1554480"/>
            <a:ext cx="2651760" cy="320040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5" name="FaListAlt badge"/>
          <p:cNvSpPr/>
          <p:nvPr/>
        </p:nvSpPr>
        <p:spPr>
          <a:xfrm>
            <a:off x="822960" y="1783080"/>
            <a:ext cx="731520" cy="731520"/>
          </a:xfrm>
          <a:prstGeom prst="ellipse">
            <a:avLst/>
          </a:prstGeom>
          <a:solidFill>
            <a:srgbClr val="2A9D8F"/>
          </a:solidFill>
          <a:ln/>
        </p:spPr>
      </p:sp>
      <p:pic>
        <p:nvPicPr>
          <p:cNvPr id="6" name="Image 0" descr="ListAlt icon"/>
          <p:cNvPicPr>
            <a:picLocks noChangeAspect="1"/>
          </p:cNvPicPr>
          <p:nvPr/>
        </p:nvPicPr>
        <p:blipFill>
          <a:blip r:embed="rId3"/>
          <a:stretch>
            <a:fillRect/>
          </a:stretch>
        </p:blipFill>
        <p:spPr>
          <a:xfrm>
            <a:off x="1005840" y="1965960"/>
            <a:ext cx="365760" cy="365760"/>
          </a:xfrm>
          <a:prstGeom prst="rect">
            <a:avLst/>
          </a:prstGeom>
        </p:spPr>
      </p:pic>
      <p:sp>
        <p:nvSpPr>
          <p:cNvPr id="7" name="Text 3"/>
          <p:cNvSpPr txBox="1"/>
          <p:nvPr/>
        </p:nvSpPr>
        <p:spPr>
          <a:xfrm>
            <a:off x="822960" y="2743200"/>
            <a:ext cx="2194560" cy="45720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Transparent rules</a:t>
            </a:r>
            <a:endParaRPr lang="en-US" sz="1800" dirty="0"/>
          </a:p>
        </p:txBody>
      </p:sp>
      <p:sp>
        <p:nvSpPr>
          <p:cNvPr id="8" name="Text 4"/>
          <p:cNvSpPr txBox="1"/>
          <p:nvPr/>
        </p:nvSpPr>
        <p:spPr>
          <a:xfrm>
            <a:off x="822960" y="3246120"/>
            <a:ext cx="2194560" cy="13716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Thresholds live in a plain config file and every flag shows what was seen</a:t>
            </a:r>
            <a:endParaRPr lang="en-US" sz="1400" dirty="0"/>
          </a:p>
        </p:txBody>
      </p:sp>
      <p:sp>
        <p:nvSpPr>
          <p:cNvPr id="9" name="ML cross-check card"/>
          <p:cNvSpPr/>
          <p:nvPr/>
        </p:nvSpPr>
        <p:spPr>
          <a:xfrm>
            <a:off x="3383280" y="1554480"/>
            <a:ext cx="2651760" cy="320040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10" name="FaBrain badge"/>
          <p:cNvSpPr/>
          <p:nvPr/>
        </p:nvSpPr>
        <p:spPr>
          <a:xfrm>
            <a:off x="3657600" y="1783080"/>
            <a:ext cx="731520" cy="731520"/>
          </a:xfrm>
          <a:prstGeom prst="ellipse">
            <a:avLst/>
          </a:prstGeom>
          <a:solidFill>
            <a:srgbClr val="2A9D8F"/>
          </a:solidFill>
          <a:ln/>
        </p:spPr>
      </p:sp>
      <p:pic>
        <p:nvPicPr>
          <p:cNvPr id="11" name="Image 1" descr="Brain icon"/>
          <p:cNvPicPr>
            <a:picLocks noChangeAspect="1"/>
          </p:cNvPicPr>
          <p:nvPr/>
        </p:nvPicPr>
        <p:blipFill>
          <a:blip r:embed="rId4"/>
          <a:stretch>
            <a:fillRect/>
          </a:stretch>
        </p:blipFill>
        <p:spPr>
          <a:xfrm>
            <a:off x="3840480" y="1965960"/>
            <a:ext cx="365760" cy="365760"/>
          </a:xfrm>
          <a:prstGeom prst="rect">
            <a:avLst/>
          </a:prstGeom>
        </p:spPr>
      </p:pic>
      <p:sp>
        <p:nvSpPr>
          <p:cNvPr id="12" name="Text 7"/>
          <p:cNvSpPr txBox="1"/>
          <p:nvPr/>
        </p:nvSpPr>
        <p:spPr>
          <a:xfrm>
            <a:off x="3657600" y="2743200"/>
            <a:ext cx="2194560" cy="45720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ML cross-check</a:t>
            </a:r>
            <a:endParaRPr lang="en-US" sz="1800" dirty="0"/>
          </a:p>
        </p:txBody>
      </p:sp>
      <p:sp>
        <p:nvSpPr>
          <p:cNvPr id="13" name="Text 8"/>
          <p:cNvSpPr txBox="1"/>
          <p:nvPr/>
        </p:nvSpPr>
        <p:spPr>
          <a:xfrm>
            <a:off x="3657600" y="3246120"/>
            <a:ext cx="2194560" cy="13716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Logistic regression and a depth-3 tree give a second opinion</a:t>
            </a:r>
            <a:endParaRPr lang="en-US" sz="1400" dirty="0"/>
          </a:p>
        </p:txBody>
      </p:sp>
      <p:sp>
        <p:nvSpPr>
          <p:cNvPr id="14" name="Protective rules card"/>
          <p:cNvSpPr/>
          <p:nvPr/>
        </p:nvSpPr>
        <p:spPr>
          <a:xfrm>
            <a:off x="6217920" y="1554480"/>
            <a:ext cx="2651760" cy="320040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15" name="FaShieldAlt badge"/>
          <p:cNvSpPr/>
          <p:nvPr/>
        </p:nvSpPr>
        <p:spPr>
          <a:xfrm>
            <a:off x="6492240" y="1783080"/>
            <a:ext cx="731520" cy="731520"/>
          </a:xfrm>
          <a:prstGeom prst="ellipse">
            <a:avLst/>
          </a:prstGeom>
          <a:solidFill>
            <a:srgbClr val="2A9D8F"/>
          </a:solidFill>
          <a:ln/>
        </p:spPr>
      </p:sp>
      <p:pic>
        <p:nvPicPr>
          <p:cNvPr id="16" name="Image 2" descr="ShieldAlt icon"/>
          <p:cNvPicPr>
            <a:picLocks noChangeAspect="1"/>
          </p:cNvPicPr>
          <p:nvPr/>
        </p:nvPicPr>
        <p:blipFill>
          <a:blip r:embed="rId5"/>
          <a:stretch>
            <a:fillRect/>
          </a:stretch>
        </p:blipFill>
        <p:spPr>
          <a:xfrm>
            <a:off x="6675120" y="1965960"/>
            <a:ext cx="365760" cy="365760"/>
          </a:xfrm>
          <a:prstGeom prst="rect">
            <a:avLst/>
          </a:prstGeom>
        </p:spPr>
      </p:pic>
      <p:sp>
        <p:nvSpPr>
          <p:cNvPr id="17" name="Text 11"/>
          <p:cNvSpPr txBox="1"/>
          <p:nvPr/>
        </p:nvSpPr>
        <p:spPr>
          <a:xfrm>
            <a:off x="6492240" y="2743200"/>
            <a:ext cx="2194560" cy="45720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Protective rules</a:t>
            </a:r>
            <a:endParaRPr lang="en-US" sz="1800" dirty="0"/>
          </a:p>
        </p:txBody>
      </p:sp>
      <p:sp>
        <p:nvSpPr>
          <p:cNvPr id="18" name="Text 12"/>
          <p:cNvSpPr txBox="1"/>
          <p:nvPr/>
        </p:nvSpPr>
        <p:spPr>
          <a:xfrm>
            <a:off x="6492240" y="3246120"/>
            <a:ext cx="2194560" cy="13716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Strong results, recovery and one-off dips do not trigger alarms</a:t>
            </a:r>
            <a:endParaRPr lang="en-US" sz="1400" dirty="0"/>
          </a:p>
        </p:txBody>
      </p:sp>
      <p:sp>
        <p:nvSpPr>
          <p:cNvPr id="19" name="Human review card"/>
          <p:cNvSpPr/>
          <p:nvPr/>
        </p:nvSpPr>
        <p:spPr>
          <a:xfrm>
            <a:off x="9052560" y="1554480"/>
            <a:ext cx="2651760" cy="320040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20" name="FaUserCheck badge"/>
          <p:cNvSpPr/>
          <p:nvPr/>
        </p:nvSpPr>
        <p:spPr>
          <a:xfrm>
            <a:off x="9326880" y="1783080"/>
            <a:ext cx="731520" cy="731520"/>
          </a:xfrm>
          <a:prstGeom prst="ellipse">
            <a:avLst/>
          </a:prstGeom>
          <a:solidFill>
            <a:srgbClr val="2A9D8F"/>
          </a:solidFill>
          <a:ln/>
        </p:spPr>
      </p:sp>
      <p:pic>
        <p:nvPicPr>
          <p:cNvPr id="21" name="Image 3" descr="UserCheck icon"/>
          <p:cNvPicPr>
            <a:picLocks noChangeAspect="1"/>
          </p:cNvPicPr>
          <p:nvPr/>
        </p:nvPicPr>
        <p:blipFill>
          <a:blip r:embed="rId6"/>
          <a:stretch>
            <a:fillRect/>
          </a:stretch>
        </p:blipFill>
        <p:spPr>
          <a:xfrm>
            <a:off x="9509760" y="1965960"/>
            <a:ext cx="365760" cy="365760"/>
          </a:xfrm>
          <a:prstGeom prst="rect">
            <a:avLst/>
          </a:prstGeom>
        </p:spPr>
      </p:pic>
      <p:sp>
        <p:nvSpPr>
          <p:cNvPr id="22" name="Text 15"/>
          <p:cNvSpPr txBox="1"/>
          <p:nvPr/>
        </p:nvSpPr>
        <p:spPr>
          <a:xfrm>
            <a:off x="9326880" y="2743200"/>
            <a:ext cx="2194560" cy="45720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Human review</a:t>
            </a:r>
            <a:endParaRPr lang="en-US" sz="1800" dirty="0"/>
          </a:p>
        </p:txBody>
      </p:sp>
      <p:sp>
        <p:nvSpPr>
          <p:cNvPr id="23" name="Text 16"/>
          <p:cNvSpPr txBox="1"/>
          <p:nvPr/>
        </p:nvSpPr>
        <p:spPr>
          <a:xfrm>
            <a:off x="9326880" y="3246120"/>
            <a:ext cx="2194560" cy="13716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Confirm, correct, dismiss or defer, logged with a reason</a:t>
            </a:r>
            <a:endParaRPr lang="en-US" sz="1400" dirty="0"/>
          </a:p>
        </p:txBody>
      </p:sp>
      <p:sp>
        <p:nvSpPr>
          <p:cNvPr id="24" name="tagline"/>
          <p:cNvSpPr/>
          <p:nvPr/>
        </p:nvSpPr>
        <p:spPr>
          <a:xfrm>
            <a:off x="548640" y="5120640"/>
            <a:ext cx="11064240" cy="1005840"/>
          </a:xfrm>
          <a:prstGeom prst="roundRect">
            <a:avLst>
              <a:gd name="adj" fmla="val 10909"/>
            </a:avLst>
          </a:prstGeom>
          <a:solidFill>
            <a:schemeClr val="tx2"/>
          </a:solidFill>
          <a:ln/>
        </p:spPr>
      </p:sp>
      <p:sp>
        <p:nvSpPr>
          <p:cNvPr id="25" name="Text 18"/>
          <p:cNvSpPr txBox="1"/>
          <p:nvPr/>
        </p:nvSpPr>
        <p:spPr>
          <a:xfrm>
            <a:off x="822960" y="5120640"/>
            <a:ext cx="10515600" cy="100584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Rules make the call. Models give a second opinion. People have the last word.</a:t>
            </a:r>
            <a:endParaRPr lang="en-US" sz="2200" dirty="0"/>
          </a:p>
        </p:txBody>
      </p:sp>
      <p:sp>
        <p:nvSpPr>
          <p:cNvPr id="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What makes it different</a:t>
            </a:r>
            <a:endParaRPr lang="en-US" sz="3600" dirty="0"/>
          </a:p>
        </p:txBody>
      </p:sp>
      <p:sp>
        <p:nvSpPr>
          <p:cNvPr id="4" name="Missing is never zero card"/>
          <p:cNvSpPr/>
          <p:nvPr/>
        </p:nvSpPr>
        <p:spPr>
          <a:xfrm>
            <a:off x="548640" y="1463040"/>
            <a:ext cx="356616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5" name="FaDatabase badge"/>
          <p:cNvSpPr/>
          <p:nvPr/>
        </p:nvSpPr>
        <p:spPr>
          <a:xfrm>
            <a:off x="777240" y="1691640"/>
            <a:ext cx="594360" cy="594360"/>
          </a:xfrm>
          <a:prstGeom prst="ellipse">
            <a:avLst/>
          </a:prstGeom>
          <a:solidFill>
            <a:srgbClr val="2A9D8F"/>
          </a:solidFill>
          <a:ln/>
        </p:spPr>
      </p:sp>
      <p:pic>
        <p:nvPicPr>
          <p:cNvPr id="6" name="Image 0" descr="Database icon"/>
          <p:cNvPicPr>
            <a:picLocks noChangeAspect="1"/>
          </p:cNvPicPr>
          <p:nvPr/>
        </p:nvPicPr>
        <p:blipFill>
          <a:blip r:embed="rId3"/>
          <a:stretch>
            <a:fillRect/>
          </a:stretch>
        </p:blipFill>
        <p:spPr>
          <a:xfrm>
            <a:off x="925830" y="1840230"/>
            <a:ext cx="297180" cy="297180"/>
          </a:xfrm>
          <a:prstGeom prst="rect">
            <a:avLst/>
          </a:prstGeom>
        </p:spPr>
      </p:pic>
      <p:sp>
        <p:nvSpPr>
          <p:cNvPr id="7" name="Text 3"/>
          <p:cNvSpPr txBox="1"/>
          <p:nvPr/>
        </p:nvSpPr>
        <p:spPr>
          <a:xfrm>
            <a:off x="1554480" y="1737360"/>
            <a:ext cx="2423160" cy="640080"/>
          </a:xfrm>
          <a:prstGeom prst="rect">
            <a:avLst/>
          </a:prstGeom>
          <a:noFill/>
          <a:ln/>
        </p:spPr>
        <p:txBody>
          <a:bodyPr wrap="square" lIns="0" tIns="0" rIns="0" bIns="0" rtlCol="0" anchor="ctr"/>
          <a:lstStyle/>
          <a:p>
            <a:pPr marL="0" indent="0">
              <a:buNone/>
            </a:pPr>
            <a:r>
              <a:rPr lang="en-US" sz="1700" b="1" dirty="0">
                <a:solidFill>
                  <a:schemeClr val="tx2"/>
                </a:solidFill>
                <a:latin typeface="Calibri" pitchFamily="34" charset="0"/>
                <a:ea typeface="Calibri" pitchFamily="34" charset="-122"/>
                <a:cs typeface="Calibri" pitchFamily="34" charset="-120"/>
              </a:rPr>
              <a:t>Missing is never zero</a:t>
            </a:r>
            <a:endParaRPr lang="en-US" sz="1700" dirty="0"/>
          </a:p>
        </p:txBody>
      </p:sp>
      <p:sp>
        <p:nvSpPr>
          <p:cNvPr id="8" name="Text 4"/>
          <p:cNvSpPr txBox="1"/>
          <p:nvPr/>
        </p:nvSpPr>
        <p:spPr>
          <a:xfrm>
            <a:off x="777240" y="2560320"/>
            <a:ext cx="31546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Averages use real values only; thin data means “Insufficient Data”</a:t>
            </a:r>
            <a:endParaRPr lang="en-US" sz="1400" dirty="0"/>
          </a:p>
        </p:txBody>
      </p:sp>
      <p:sp>
        <p:nvSpPr>
          <p:cNvPr id="9" name="Protects students who are fine card"/>
          <p:cNvSpPr/>
          <p:nvPr/>
        </p:nvSpPr>
        <p:spPr>
          <a:xfrm>
            <a:off x="4297680" y="1463040"/>
            <a:ext cx="356616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10" name="FaShieldAlt badge"/>
          <p:cNvSpPr/>
          <p:nvPr/>
        </p:nvSpPr>
        <p:spPr>
          <a:xfrm>
            <a:off x="4526280" y="1691640"/>
            <a:ext cx="594360" cy="594360"/>
          </a:xfrm>
          <a:prstGeom prst="ellipse">
            <a:avLst/>
          </a:prstGeom>
          <a:solidFill>
            <a:srgbClr val="2A9D8F"/>
          </a:solidFill>
          <a:ln/>
        </p:spPr>
      </p:sp>
      <p:pic>
        <p:nvPicPr>
          <p:cNvPr id="11" name="Image 1" descr="ShieldAlt icon"/>
          <p:cNvPicPr>
            <a:picLocks noChangeAspect="1"/>
          </p:cNvPicPr>
          <p:nvPr/>
        </p:nvPicPr>
        <p:blipFill>
          <a:blip r:embed="rId4"/>
          <a:stretch>
            <a:fillRect/>
          </a:stretch>
        </p:blipFill>
        <p:spPr>
          <a:xfrm>
            <a:off x="4674870" y="1840230"/>
            <a:ext cx="297180" cy="297180"/>
          </a:xfrm>
          <a:prstGeom prst="rect">
            <a:avLst/>
          </a:prstGeom>
        </p:spPr>
      </p:pic>
      <p:sp>
        <p:nvSpPr>
          <p:cNvPr id="12" name="Text 7"/>
          <p:cNvSpPr txBox="1"/>
          <p:nvPr/>
        </p:nvSpPr>
        <p:spPr>
          <a:xfrm>
            <a:off x="5303520" y="1737360"/>
            <a:ext cx="2423160" cy="640080"/>
          </a:xfrm>
          <a:prstGeom prst="rect">
            <a:avLst/>
          </a:prstGeom>
          <a:noFill/>
          <a:ln/>
        </p:spPr>
        <p:txBody>
          <a:bodyPr wrap="square" lIns="0" tIns="0" rIns="0" bIns="0" rtlCol="0" anchor="ctr"/>
          <a:lstStyle/>
          <a:p>
            <a:pPr marL="0" indent="0">
              <a:buNone/>
            </a:pPr>
            <a:r>
              <a:rPr lang="en-US" sz="1700" b="1" dirty="0">
                <a:solidFill>
                  <a:schemeClr val="tx2"/>
                </a:solidFill>
                <a:latin typeface="Calibri" pitchFamily="34" charset="0"/>
                <a:ea typeface="Calibri" pitchFamily="34" charset="-122"/>
                <a:cs typeface="Calibri" pitchFamily="34" charset="-120"/>
              </a:rPr>
              <a:t>Protects students who are fine</a:t>
            </a:r>
            <a:endParaRPr lang="en-US" sz="1700" dirty="0"/>
          </a:p>
        </p:txBody>
      </p:sp>
      <p:sp>
        <p:nvSpPr>
          <p:cNvPr id="13" name="Text 8"/>
          <p:cNvSpPr txBox="1"/>
          <p:nvPr/>
        </p:nvSpPr>
        <p:spPr>
          <a:xfrm>
            <a:off x="4526280" y="2560320"/>
            <a:ext cx="31546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Strong quizzes offset low attendance; recovery is recognised</a:t>
            </a:r>
            <a:endParaRPr lang="en-US" sz="1400" dirty="0"/>
          </a:p>
        </p:txBody>
      </p:sp>
      <p:sp>
        <p:nvSpPr>
          <p:cNvPr id="14" name="No flags from one bad week card"/>
          <p:cNvSpPr/>
          <p:nvPr/>
        </p:nvSpPr>
        <p:spPr>
          <a:xfrm>
            <a:off x="8046720" y="1463040"/>
            <a:ext cx="356616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15" name="FaRegClock badge"/>
          <p:cNvSpPr/>
          <p:nvPr/>
        </p:nvSpPr>
        <p:spPr>
          <a:xfrm>
            <a:off x="8275320" y="1691640"/>
            <a:ext cx="594360" cy="594360"/>
          </a:xfrm>
          <a:prstGeom prst="ellipse">
            <a:avLst/>
          </a:prstGeom>
          <a:solidFill>
            <a:srgbClr val="2A9D8F"/>
          </a:solidFill>
          <a:ln/>
        </p:spPr>
      </p:sp>
      <p:pic>
        <p:nvPicPr>
          <p:cNvPr id="16" name="Image 2" descr="RegClock icon"/>
          <p:cNvPicPr>
            <a:picLocks noChangeAspect="1"/>
          </p:cNvPicPr>
          <p:nvPr/>
        </p:nvPicPr>
        <p:blipFill>
          <a:blip r:embed="rId5"/>
          <a:stretch>
            <a:fillRect/>
          </a:stretch>
        </p:blipFill>
        <p:spPr>
          <a:xfrm>
            <a:off x="8423910" y="1840230"/>
            <a:ext cx="297180" cy="297180"/>
          </a:xfrm>
          <a:prstGeom prst="rect">
            <a:avLst/>
          </a:prstGeom>
        </p:spPr>
      </p:pic>
      <p:sp>
        <p:nvSpPr>
          <p:cNvPr id="17" name="Text 11"/>
          <p:cNvSpPr txBox="1"/>
          <p:nvPr/>
        </p:nvSpPr>
        <p:spPr>
          <a:xfrm>
            <a:off x="9052560" y="1737360"/>
            <a:ext cx="2423160" cy="640080"/>
          </a:xfrm>
          <a:prstGeom prst="rect">
            <a:avLst/>
          </a:prstGeom>
          <a:noFill/>
          <a:ln/>
        </p:spPr>
        <p:txBody>
          <a:bodyPr wrap="square" lIns="0" tIns="0" rIns="0" bIns="0" rtlCol="0" anchor="ctr"/>
          <a:lstStyle/>
          <a:p>
            <a:pPr marL="0" indent="0">
              <a:buNone/>
            </a:pPr>
            <a:r>
              <a:rPr lang="en-US" sz="1700" b="1" dirty="0">
                <a:solidFill>
                  <a:schemeClr val="tx2"/>
                </a:solidFill>
                <a:latin typeface="Calibri" pitchFamily="34" charset="0"/>
                <a:ea typeface="Calibri" pitchFamily="34" charset="-122"/>
                <a:cs typeface="Calibri" pitchFamily="34" charset="-120"/>
              </a:rPr>
              <a:t>No flags from one bad week</a:t>
            </a:r>
            <a:endParaRPr lang="en-US" sz="1700" dirty="0"/>
          </a:p>
        </p:txBody>
      </p:sp>
      <p:sp>
        <p:nvSpPr>
          <p:cNvPr id="18" name="Text 12"/>
          <p:cNvSpPr txBox="1"/>
          <p:nvPr/>
        </p:nvSpPr>
        <p:spPr>
          <a:xfrm>
            <a:off x="8275320" y="2560320"/>
            <a:ext cx="31546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Concern must persist in 2 of the last 3 snapshots</a:t>
            </a:r>
            <a:endParaRPr lang="en-US" sz="1400" dirty="0"/>
          </a:p>
        </p:txBody>
      </p:sp>
      <p:sp>
        <p:nvSpPr>
          <p:cNvPr id="19" name="People have the last word card"/>
          <p:cNvSpPr/>
          <p:nvPr/>
        </p:nvSpPr>
        <p:spPr>
          <a:xfrm>
            <a:off x="548640" y="3931920"/>
            <a:ext cx="356616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20" name="FaUserCheck badge"/>
          <p:cNvSpPr/>
          <p:nvPr/>
        </p:nvSpPr>
        <p:spPr>
          <a:xfrm>
            <a:off x="777240" y="4160520"/>
            <a:ext cx="594360" cy="594360"/>
          </a:xfrm>
          <a:prstGeom prst="ellipse">
            <a:avLst/>
          </a:prstGeom>
          <a:solidFill>
            <a:srgbClr val="2A9D8F"/>
          </a:solidFill>
          <a:ln/>
        </p:spPr>
      </p:sp>
      <p:pic>
        <p:nvPicPr>
          <p:cNvPr id="21" name="Image 3" descr="UserCheck icon"/>
          <p:cNvPicPr>
            <a:picLocks noChangeAspect="1"/>
          </p:cNvPicPr>
          <p:nvPr/>
        </p:nvPicPr>
        <p:blipFill>
          <a:blip r:embed="rId6"/>
          <a:stretch>
            <a:fillRect/>
          </a:stretch>
        </p:blipFill>
        <p:spPr>
          <a:xfrm>
            <a:off x="925830" y="4309110"/>
            <a:ext cx="297180" cy="297180"/>
          </a:xfrm>
          <a:prstGeom prst="rect">
            <a:avLst/>
          </a:prstGeom>
        </p:spPr>
      </p:pic>
      <p:sp>
        <p:nvSpPr>
          <p:cNvPr id="22" name="Text 15"/>
          <p:cNvSpPr txBox="1"/>
          <p:nvPr/>
        </p:nvSpPr>
        <p:spPr>
          <a:xfrm>
            <a:off x="1554480" y="4206240"/>
            <a:ext cx="2423160" cy="640080"/>
          </a:xfrm>
          <a:prstGeom prst="rect">
            <a:avLst/>
          </a:prstGeom>
          <a:noFill/>
          <a:ln/>
        </p:spPr>
        <p:txBody>
          <a:bodyPr wrap="square" lIns="0" tIns="0" rIns="0" bIns="0" rtlCol="0" anchor="ctr"/>
          <a:lstStyle/>
          <a:p>
            <a:pPr marL="0" indent="0">
              <a:buNone/>
            </a:pPr>
            <a:r>
              <a:rPr lang="en-US" sz="1700" b="1" dirty="0">
                <a:solidFill>
                  <a:schemeClr val="tx2"/>
                </a:solidFill>
                <a:latin typeface="Calibri" pitchFamily="34" charset="0"/>
                <a:ea typeface="Calibri" pitchFamily="34" charset="-122"/>
                <a:cs typeface="Calibri" pitchFamily="34" charset="-120"/>
              </a:rPr>
              <a:t>People have the last word</a:t>
            </a:r>
            <a:endParaRPr lang="en-US" sz="1700" dirty="0"/>
          </a:p>
        </p:txBody>
      </p:sp>
      <p:sp>
        <p:nvSpPr>
          <p:cNvPr id="23" name="Text 16"/>
          <p:cNvSpPr txBox="1"/>
          <p:nvPr/>
        </p:nvSpPr>
        <p:spPr>
          <a:xfrm>
            <a:off x="777240" y="5029200"/>
            <a:ext cx="31546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Dismissing leaves no mark; every review is logged</a:t>
            </a:r>
            <a:endParaRPr lang="en-US" sz="1400" dirty="0"/>
          </a:p>
        </p:txBody>
      </p:sp>
      <p:sp>
        <p:nvSpPr>
          <p:cNvPr id="24" name="Strengths first card"/>
          <p:cNvSpPr/>
          <p:nvPr/>
        </p:nvSpPr>
        <p:spPr>
          <a:xfrm>
            <a:off x="4297680" y="3931920"/>
            <a:ext cx="356616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25" name="FaSmile badge"/>
          <p:cNvSpPr/>
          <p:nvPr/>
        </p:nvSpPr>
        <p:spPr>
          <a:xfrm>
            <a:off x="4526280" y="4160520"/>
            <a:ext cx="594360" cy="594360"/>
          </a:xfrm>
          <a:prstGeom prst="ellipse">
            <a:avLst/>
          </a:prstGeom>
          <a:solidFill>
            <a:srgbClr val="2A9D8F"/>
          </a:solidFill>
          <a:ln/>
        </p:spPr>
      </p:sp>
      <p:pic>
        <p:nvPicPr>
          <p:cNvPr id="26" name="Image 4" descr="Smile icon"/>
          <p:cNvPicPr>
            <a:picLocks noChangeAspect="1"/>
          </p:cNvPicPr>
          <p:nvPr/>
        </p:nvPicPr>
        <p:blipFill>
          <a:blip r:embed="rId7"/>
          <a:stretch>
            <a:fillRect/>
          </a:stretch>
        </p:blipFill>
        <p:spPr>
          <a:xfrm>
            <a:off x="4674870" y="4309110"/>
            <a:ext cx="297180" cy="297180"/>
          </a:xfrm>
          <a:prstGeom prst="rect">
            <a:avLst/>
          </a:prstGeom>
        </p:spPr>
      </p:pic>
      <p:sp>
        <p:nvSpPr>
          <p:cNvPr id="27" name="Text 19"/>
          <p:cNvSpPr txBox="1"/>
          <p:nvPr/>
        </p:nvSpPr>
        <p:spPr>
          <a:xfrm>
            <a:off x="5303520" y="4206240"/>
            <a:ext cx="2423160" cy="640080"/>
          </a:xfrm>
          <a:prstGeom prst="rect">
            <a:avLst/>
          </a:prstGeom>
          <a:noFill/>
          <a:ln/>
        </p:spPr>
        <p:txBody>
          <a:bodyPr wrap="square" lIns="0" tIns="0" rIns="0" bIns="0" rtlCol="0" anchor="ctr"/>
          <a:lstStyle/>
          <a:p>
            <a:pPr marL="0" indent="0">
              <a:buNone/>
            </a:pPr>
            <a:r>
              <a:rPr lang="en-US" sz="1700" b="1" dirty="0">
                <a:solidFill>
                  <a:schemeClr val="tx2"/>
                </a:solidFill>
                <a:latin typeface="Calibri" pitchFamily="34" charset="0"/>
                <a:ea typeface="Calibri" pitchFamily="34" charset="-122"/>
                <a:cs typeface="Calibri" pitchFamily="34" charset="-120"/>
              </a:rPr>
              <a:t>Strengths first</a:t>
            </a:r>
            <a:endParaRPr lang="en-US" sz="1700" dirty="0"/>
          </a:p>
        </p:txBody>
      </p:sp>
      <p:sp>
        <p:nvSpPr>
          <p:cNvPr id="28" name="Text 20"/>
          <p:cNvSpPr txBox="1"/>
          <p:nvPr/>
        </p:nvSpPr>
        <p:spPr>
          <a:xfrm>
            <a:off x="4526280" y="5029200"/>
            <a:ext cx="31546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“What’s going well” sits beside “Why this flag”</a:t>
            </a:r>
            <a:endParaRPr lang="en-US" sz="1400" dirty="0"/>
          </a:p>
        </p:txBody>
      </p:sp>
      <p:sp>
        <p:nvSpPr>
          <p:cNvPr id="29" name="Guardrails in code card"/>
          <p:cNvSpPr/>
          <p:nvPr/>
        </p:nvSpPr>
        <p:spPr>
          <a:xfrm>
            <a:off x="8046720" y="3931920"/>
            <a:ext cx="3566160" cy="2286000"/>
          </a:xfrm>
          <a:prstGeom prst="roundRect">
            <a:avLst>
              <a:gd name="adj" fmla="val 4800"/>
            </a:avLst>
          </a:prstGeom>
          <a:solidFill>
            <a:schemeClr val="bg2"/>
          </a:solidFill>
          <a:ln/>
          <a:effectLst>
            <a:outerShdw blurRad="101600" dist="25400" dir="5400000" algn="bl" rotWithShape="0">
              <a:srgbClr val="000000">
                <a:alpha val="12000"/>
              </a:srgbClr>
            </a:outerShdw>
          </a:effectLst>
        </p:spPr>
      </p:sp>
      <p:sp>
        <p:nvSpPr>
          <p:cNvPr id="30" name="FaCode badge"/>
          <p:cNvSpPr/>
          <p:nvPr/>
        </p:nvSpPr>
        <p:spPr>
          <a:xfrm>
            <a:off x="8275320" y="4160520"/>
            <a:ext cx="594360" cy="594360"/>
          </a:xfrm>
          <a:prstGeom prst="ellipse">
            <a:avLst/>
          </a:prstGeom>
          <a:solidFill>
            <a:srgbClr val="2A9D8F"/>
          </a:solidFill>
          <a:ln/>
        </p:spPr>
      </p:sp>
      <p:pic>
        <p:nvPicPr>
          <p:cNvPr id="31" name="Image 5" descr="Code icon"/>
          <p:cNvPicPr>
            <a:picLocks noChangeAspect="1"/>
          </p:cNvPicPr>
          <p:nvPr/>
        </p:nvPicPr>
        <p:blipFill>
          <a:blip r:embed="rId8"/>
          <a:stretch>
            <a:fillRect/>
          </a:stretch>
        </p:blipFill>
        <p:spPr>
          <a:xfrm>
            <a:off x="8423910" y="4309110"/>
            <a:ext cx="297180" cy="297180"/>
          </a:xfrm>
          <a:prstGeom prst="rect">
            <a:avLst/>
          </a:prstGeom>
        </p:spPr>
      </p:pic>
      <p:sp>
        <p:nvSpPr>
          <p:cNvPr id="32" name="Text 23"/>
          <p:cNvSpPr txBox="1"/>
          <p:nvPr/>
        </p:nvSpPr>
        <p:spPr>
          <a:xfrm>
            <a:off x="9052560" y="4206240"/>
            <a:ext cx="2423160" cy="640080"/>
          </a:xfrm>
          <a:prstGeom prst="rect">
            <a:avLst/>
          </a:prstGeom>
          <a:noFill/>
          <a:ln/>
        </p:spPr>
        <p:txBody>
          <a:bodyPr wrap="square" lIns="0" tIns="0" rIns="0" bIns="0" rtlCol="0" anchor="ctr"/>
          <a:lstStyle/>
          <a:p>
            <a:pPr marL="0" indent="0">
              <a:buNone/>
            </a:pPr>
            <a:r>
              <a:rPr lang="en-US" sz="1700" b="1" dirty="0">
                <a:solidFill>
                  <a:schemeClr val="tx2"/>
                </a:solidFill>
                <a:latin typeface="Calibri" pitchFamily="34" charset="0"/>
                <a:ea typeface="Calibri" pitchFamily="34" charset="-122"/>
                <a:cs typeface="Calibri" pitchFamily="34" charset="-120"/>
              </a:rPr>
              <a:t>Guardrails in code</a:t>
            </a:r>
            <a:endParaRPr lang="en-US" sz="1700" dirty="0"/>
          </a:p>
        </p:txBody>
      </p:sp>
      <p:sp>
        <p:nvSpPr>
          <p:cNvPr id="33" name="Text 24"/>
          <p:cNvSpPr txBox="1"/>
          <p:nvPr/>
        </p:nvSpPr>
        <p:spPr>
          <a:xfrm>
            <a:off x="8275320" y="5029200"/>
            <a:ext cx="31546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Blame-word checker, no punitive actions, no group attributes in ML</a:t>
            </a:r>
            <a:endParaRPr lang="en-US" sz="1400" dirty="0"/>
          </a:p>
        </p:txBody>
      </p:sp>
      <p:sp>
        <p:nvSpPr>
          <p:cNvPr id="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System architecture</a:t>
            </a:r>
            <a:endParaRPr lang="en-US" sz="3600" dirty="0"/>
          </a:p>
        </p:txBody>
      </p:sp>
      <p:sp>
        <p:nvSpPr>
          <p:cNvPr id="4" name="Synthetic data box"/>
          <p:cNvSpPr/>
          <p:nvPr/>
        </p:nvSpPr>
        <p:spPr>
          <a:xfrm>
            <a:off x="548640" y="1737360"/>
            <a:ext cx="1417320" cy="1188720"/>
          </a:xfrm>
          <a:prstGeom prst="roundRect">
            <a:avLst>
              <a:gd name="adj" fmla="val 7692"/>
            </a:avLst>
          </a:prstGeom>
          <a:solidFill>
            <a:schemeClr val="tx2"/>
          </a:solidFill>
          <a:ln/>
          <a:effectLst>
            <a:outerShdw blurRad="101600" dist="25400" dir="5400000" algn="bl" rotWithShape="0">
              <a:srgbClr val="000000">
                <a:alpha val="12000"/>
              </a:srgbClr>
            </a:outerShdw>
          </a:effectLst>
        </p:spPr>
      </p:sp>
      <p:sp>
        <p:nvSpPr>
          <p:cNvPr id="5" name="Text 2"/>
          <p:cNvSpPr txBox="1"/>
          <p:nvPr/>
        </p:nvSpPr>
        <p:spPr>
          <a:xfrm>
            <a:off x="621792" y="1737360"/>
            <a:ext cx="1271016" cy="118872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Synthetic data</a:t>
            </a:r>
            <a:endParaRPr lang="en-US" sz="1500" dirty="0"/>
          </a:p>
        </p:txBody>
      </p:sp>
      <p:sp>
        <p:nvSpPr>
          <p:cNvPr id="6" name="Text 3"/>
          <p:cNvSpPr txBox="1"/>
          <p:nvPr/>
        </p:nvSpPr>
        <p:spPr>
          <a:xfrm>
            <a:off x="548640" y="301752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100 students × 12 weeks</a:t>
            </a:r>
            <a:endParaRPr lang="en-US" sz="1200" dirty="0"/>
          </a:p>
        </p:txBody>
      </p:sp>
      <p:sp>
        <p:nvSpPr>
          <p:cNvPr id="7" name="Text 4"/>
          <p:cNvSpPr txBox="1"/>
          <p:nvPr/>
        </p:nvSpPr>
        <p:spPr>
          <a:xfrm>
            <a:off x="1947672" y="2011680"/>
            <a:ext cx="219456" cy="640080"/>
          </a:xfrm>
          <a:prstGeom prst="rect">
            <a:avLst/>
          </a:prstGeom>
          <a:noFill/>
          <a:ln/>
        </p:spPr>
        <p:txBody>
          <a:bodyPr wrap="square" lIns="0" tIns="0" rIns="0" bIns="0" rtlCol="0" anchor="ctr"/>
          <a:lstStyle/>
          <a:p>
            <a:pPr marL="0" indent="0" algn="ctr">
              <a:buNone/>
            </a:pPr>
            <a:r>
              <a:rPr lang="en-US" sz="2400" b="1" dirty="0">
                <a:solidFill>
                  <a:schemeClr val="accent2"/>
                </a:solidFill>
              </a:rPr>
              <a:t>›</a:t>
            </a:r>
            <a:endParaRPr lang="en-US" sz="2400" dirty="0"/>
          </a:p>
        </p:txBody>
      </p:sp>
      <p:sp>
        <p:nvSpPr>
          <p:cNvPr id="8" name="Data cleaning box"/>
          <p:cNvSpPr/>
          <p:nvPr/>
        </p:nvSpPr>
        <p:spPr>
          <a:xfrm>
            <a:off x="2148840" y="1737360"/>
            <a:ext cx="1417320" cy="1188720"/>
          </a:xfrm>
          <a:prstGeom prst="roundRect">
            <a:avLst>
              <a:gd name="adj" fmla="val 7692"/>
            </a:avLst>
          </a:prstGeom>
          <a:solidFill>
            <a:schemeClr val="tx2"/>
          </a:solidFill>
          <a:ln/>
          <a:effectLst>
            <a:outerShdw blurRad="101600" dist="25400" dir="5400000" algn="bl" rotWithShape="0">
              <a:srgbClr val="000000">
                <a:alpha val="12000"/>
              </a:srgbClr>
            </a:outerShdw>
          </a:effectLst>
        </p:spPr>
      </p:sp>
      <p:sp>
        <p:nvSpPr>
          <p:cNvPr id="9" name="Text 6"/>
          <p:cNvSpPr txBox="1"/>
          <p:nvPr/>
        </p:nvSpPr>
        <p:spPr>
          <a:xfrm>
            <a:off x="2221992" y="1737360"/>
            <a:ext cx="1271016" cy="118872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Data cleaning</a:t>
            </a:r>
            <a:endParaRPr lang="en-US" sz="1500" dirty="0"/>
          </a:p>
        </p:txBody>
      </p:sp>
      <p:sp>
        <p:nvSpPr>
          <p:cNvPr id="10" name="Text 7"/>
          <p:cNvSpPr txBox="1"/>
          <p:nvPr/>
        </p:nvSpPr>
        <p:spPr>
          <a:xfrm>
            <a:off x="2148840" y="301752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Invalid → missing</a:t>
            </a:r>
            <a:endParaRPr lang="en-US" sz="1200" dirty="0"/>
          </a:p>
        </p:txBody>
      </p:sp>
      <p:sp>
        <p:nvSpPr>
          <p:cNvPr id="11" name="Text 8"/>
          <p:cNvSpPr txBox="1"/>
          <p:nvPr/>
        </p:nvSpPr>
        <p:spPr>
          <a:xfrm>
            <a:off x="3547872" y="2011680"/>
            <a:ext cx="219456" cy="640080"/>
          </a:xfrm>
          <a:prstGeom prst="rect">
            <a:avLst/>
          </a:prstGeom>
          <a:noFill/>
          <a:ln/>
        </p:spPr>
        <p:txBody>
          <a:bodyPr wrap="square" lIns="0" tIns="0" rIns="0" bIns="0" rtlCol="0" anchor="ctr"/>
          <a:lstStyle/>
          <a:p>
            <a:pPr marL="0" indent="0" algn="ctr">
              <a:buNone/>
            </a:pPr>
            <a:r>
              <a:rPr lang="en-US" sz="2400" b="1" dirty="0">
                <a:solidFill>
                  <a:schemeClr val="accent2"/>
                </a:solidFill>
              </a:rPr>
              <a:t>›</a:t>
            </a:r>
            <a:endParaRPr lang="en-US" sz="2400" dirty="0"/>
          </a:p>
        </p:txBody>
      </p:sp>
      <p:sp>
        <p:nvSpPr>
          <p:cNvPr id="12" name="Features box"/>
          <p:cNvSpPr/>
          <p:nvPr/>
        </p:nvSpPr>
        <p:spPr>
          <a:xfrm>
            <a:off x="3749040" y="1737360"/>
            <a:ext cx="1417320" cy="1188720"/>
          </a:xfrm>
          <a:prstGeom prst="roundRect">
            <a:avLst>
              <a:gd name="adj" fmla="val 7692"/>
            </a:avLst>
          </a:prstGeom>
          <a:solidFill>
            <a:schemeClr val="tx2"/>
          </a:solidFill>
          <a:ln/>
          <a:effectLst>
            <a:outerShdw blurRad="101600" dist="25400" dir="5400000" algn="bl" rotWithShape="0">
              <a:srgbClr val="000000">
                <a:alpha val="12000"/>
              </a:srgbClr>
            </a:outerShdw>
          </a:effectLst>
        </p:spPr>
      </p:sp>
      <p:sp>
        <p:nvSpPr>
          <p:cNvPr id="13" name="Text 10"/>
          <p:cNvSpPr txBox="1"/>
          <p:nvPr/>
        </p:nvSpPr>
        <p:spPr>
          <a:xfrm>
            <a:off x="3822192" y="1737360"/>
            <a:ext cx="1271016" cy="118872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Features</a:t>
            </a:r>
            <a:endParaRPr lang="en-US" sz="1500" dirty="0"/>
          </a:p>
        </p:txBody>
      </p:sp>
      <p:sp>
        <p:nvSpPr>
          <p:cNvPr id="14" name="Text 11"/>
          <p:cNvSpPr txBox="1"/>
          <p:nvPr/>
        </p:nvSpPr>
        <p:spPr>
          <a:xfrm>
            <a:off x="3749040" y="301752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18, as-of-week, no look-ahead</a:t>
            </a:r>
            <a:endParaRPr lang="en-US" sz="1200" dirty="0"/>
          </a:p>
        </p:txBody>
      </p:sp>
      <p:sp>
        <p:nvSpPr>
          <p:cNvPr id="15" name="Text 12"/>
          <p:cNvSpPr txBox="1"/>
          <p:nvPr/>
        </p:nvSpPr>
        <p:spPr>
          <a:xfrm>
            <a:off x="5148072" y="2011680"/>
            <a:ext cx="219456" cy="640080"/>
          </a:xfrm>
          <a:prstGeom prst="rect">
            <a:avLst/>
          </a:prstGeom>
          <a:noFill/>
          <a:ln/>
        </p:spPr>
        <p:txBody>
          <a:bodyPr wrap="square" lIns="0" tIns="0" rIns="0" bIns="0" rtlCol="0" anchor="ctr"/>
          <a:lstStyle/>
          <a:p>
            <a:pPr marL="0" indent="0" algn="ctr">
              <a:buNone/>
            </a:pPr>
            <a:r>
              <a:rPr lang="en-US" sz="2400" b="1" dirty="0">
                <a:solidFill>
                  <a:schemeClr val="accent2"/>
                </a:solidFill>
              </a:rPr>
              <a:t>›</a:t>
            </a:r>
            <a:endParaRPr lang="en-US" sz="2400" dirty="0"/>
          </a:p>
        </p:txBody>
      </p:sp>
      <p:sp>
        <p:nvSpPr>
          <p:cNvPr id="16" name="Rules + ML box"/>
          <p:cNvSpPr/>
          <p:nvPr/>
        </p:nvSpPr>
        <p:spPr>
          <a:xfrm>
            <a:off x="5349240" y="1737360"/>
            <a:ext cx="1417320" cy="1188720"/>
          </a:xfrm>
          <a:prstGeom prst="roundRect">
            <a:avLst>
              <a:gd name="adj" fmla="val 7692"/>
            </a:avLst>
          </a:prstGeom>
          <a:solidFill>
            <a:schemeClr val="tx2"/>
          </a:solidFill>
          <a:ln/>
          <a:effectLst>
            <a:outerShdw blurRad="101600" dist="25400" dir="5400000" algn="bl" rotWithShape="0">
              <a:srgbClr val="000000">
                <a:alpha val="12000"/>
              </a:srgbClr>
            </a:outerShdw>
          </a:effectLst>
        </p:spPr>
      </p:sp>
      <p:sp>
        <p:nvSpPr>
          <p:cNvPr id="17" name="Text 14"/>
          <p:cNvSpPr txBox="1"/>
          <p:nvPr/>
        </p:nvSpPr>
        <p:spPr>
          <a:xfrm>
            <a:off x="5422392" y="1737360"/>
            <a:ext cx="1271016" cy="118872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Rules + ML</a:t>
            </a:r>
            <a:endParaRPr lang="en-US" sz="1500" dirty="0"/>
          </a:p>
        </p:txBody>
      </p:sp>
      <p:sp>
        <p:nvSpPr>
          <p:cNvPr id="18" name="Text 15"/>
          <p:cNvSpPr txBox="1"/>
          <p:nvPr/>
        </p:nvSpPr>
        <p:spPr>
          <a:xfrm>
            <a:off x="5349240" y="301752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Rules decide, ML cross-checks</a:t>
            </a:r>
            <a:endParaRPr lang="en-US" sz="1200" dirty="0"/>
          </a:p>
        </p:txBody>
      </p:sp>
      <p:sp>
        <p:nvSpPr>
          <p:cNvPr id="19" name="Text 16"/>
          <p:cNvSpPr txBox="1"/>
          <p:nvPr/>
        </p:nvSpPr>
        <p:spPr>
          <a:xfrm>
            <a:off x="6748272" y="2011680"/>
            <a:ext cx="219456" cy="640080"/>
          </a:xfrm>
          <a:prstGeom prst="rect">
            <a:avLst/>
          </a:prstGeom>
          <a:noFill/>
          <a:ln/>
        </p:spPr>
        <p:txBody>
          <a:bodyPr wrap="square" lIns="0" tIns="0" rIns="0" bIns="0" rtlCol="0" anchor="ctr"/>
          <a:lstStyle/>
          <a:p>
            <a:pPr marL="0" indent="0" algn="ctr">
              <a:buNone/>
            </a:pPr>
            <a:r>
              <a:rPr lang="en-US" sz="2400" b="1" dirty="0">
                <a:solidFill>
                  <a:schemeClr val="accent2"/>
                </a:solidFill>
              </a:rPr>
              <a:t>›</a:t>
            </a:r>
            <a:endParaRPr lang="en-US" sz="2400" dirty="0"/>
          </a:p>
        </p:txBody>
      </p:sp>
      <p:sp>
        <p:nvSpPr>
          <p:cNvPr id="20" name="Explanations box"/>
          <p:cNvSpPr/>
          <p:nvPr/>
        </p:nvSpPr>
        <p:spPr>
          <a:xfrm>
            <a:off x="6949440" y="1737360"/>
            <a:ext cx="1417320" cy="1188720"/>
          </a:xfrm>
          <a:prstGeom prst="roundRect">
            <a:avLst>
              <a:gd name="adj" fmla="val 7692"/>
            </a:avLst>
          </a:prstGeom>
          <a:solidFill>
            <a:schemeClr val="tx2"/>
          </a:solidFill>
          <a:ln/>
          <a:effectLst>
            <a:outerShdw blurRad="101600" dist="25400" dir="5400000" algn="bl" rotWithShape="0">
              <a:srgbClr val="000000">
                <a:alpha val="12000"/>
              </a:srgbClr>
            </a:outerShdw>
          </a:effectLst>
        </p:spPr>
      </p:sp>
      <p:sp>
        <p:nvSpPr>
          <p:cNvPr id="21" name="Text 18"/>
          <p:cNvSpPr txBox="1"/>
          <p:nvPr/>
        </p:nvSpPr>
        <p:spPr>
          <a:xfrm>
            <a:off x="7022592" y="1737360"/>
            <a:ext cx="1271016" cy="118872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Explanations</a:t>
            </a:r>
            <a:endParaRPr lang="en-US" sz="1500" dirty="0"/>
          </a:p>
        </p:txBody>
      </p:sp>
      <p:sp>
        <p:nvSpPr>
          <p:cNvPr id="22" name="Text 19"/>
          <p:cNvSpPr txBox="1"/>
          <p:nvPr/>
        </p:nvSpPr>
        <p:spPr>
          <a:xfrm>
            <a:off x="6949440" y="301752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Plain English + strengths</a:t>
            </a:r>
            <a:endParaRPr lang="en-US" sz="1200" dirty="0"/>
          </a:p>
        </p:txBody>
      </p:sp>
      <p:sp>
        <p:nvSpPr>
          <p:cNvPr id="23" name="Text 20"/>
          <p:cNvSpPr txBox="1"/>
          <p:nvPr/>
        </p:nvSpPr>
        <p:spPr>
          <a:xfrm>
            <a:off x="8348472" y="2011680"/>
            <a:ext cx="219456" cy="640080"/>
          </a:xfrm>
          <a:prstGeom prst="rect">
            <a:avLst/>
          </a:prstGeom>
          <a:noFill/>
          <a:ln/>
        </p:spPr>
        <p:txBody>
          <a:bodyPr wrap="square" lIns="0" tIns="0" rIns="0" bIns="0" rtlCol="0" anchor="ctr"/>
          <a:lstStyle/>
          <a:p>
            <a:pPr marL="0" indent="0" algn="ctr">
              <a:buNone/>
            </a:pPr>
            <a:r>
              <a:rPr lang="en-US" sz="2400" b="1" dirty="0">
                <a:solidFill>
                  <a:schemeClr val="accent2"/>
                </a:solidFill>
              </a:rPr>
              <a:t>›</a:t>
            </a:r>
            <a:endParaRPr lang="en-US" sz="2400" dirty="0"/>
          </a:p>
        </p:txBody>
      </p:sp>
      <p:sp>
        <p:nvSpPr>
          <p:cNvPr id="24" name="Dashboard box"/>
          <p:cNvSpPr/>
          <p:nvPr/>
        </p:nvSpPr>
        <p:spPr>
          <a:xfrm>
            <a:off x="8549640" y="1737360"/>
            <a:ext cx="1417320" cy="1188720"/>
          </a:xfrm>
          <a:prstGeom prst="roundRect">
            <a:avLst>
              <a:gd name="adj" fmla="val 7692"/>
            </a:avLst>
          </a:prstGeom>
          <a:solidFill>
            <a:schemeClr val="tx2"/>
          </a:solidFill>
          <a:ln/>
          <a:effectLst>
            <a:outerShdw blurRad="101600" dist="25400" dir="5400000" algn="bl" rotWithShape="0">
              <a:srgbClr val="000000">
                <a:alpha val="12000"/>
              </a:srgbClr>
            </a:outerShdw>
          </a:effectLst>
        </p:spPr>
      </p:sp>
      <p:sp>
        <p:nvSpPr>
          <p:cNvPr id="25" name="Text 22"/>
          <p:cNvSpPr txBox="1"/>
          <p:nvPr/>
        </p:nvSpPr>
        <p:spPr>
          <a:xfrm>
            <a:off x="8622792" y="1737360"/>
            <a:ext cx="1271016" cy="118872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Dashboard</a:t>
            </a:r>
            <a:endParaRPr lang="en-US" sz="1500" dirty="0"/>
          </a:p>
        </p:txBody>
      </p:sp>
      <p:sp>
        <p:nvSpPr>
          <p:cNvPr id="26" name="Text 23"/>
          <p:cNvSpPr txBox="1"/>
          <p:nvPr/>
        </p:nvSpPr>
        <p:spPr>
          <a:xfrm>
            <a:off x="8549640" y="301752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7 Streamlit pages</a:t>
            </a:r>
            <a:endParaRPr lang="en-US" sz="1200" dirty="0"/>
          </a:p>
        </p:txBody>
      </p:sp>
      <p:sp>
        <p:nvSpPr>
          <p:cNvPr id="27" name="Text 24"/>
          <p:cNvSpPr txBox="1"/>
          <p:nvPr/>
        </p:nvSpPr>
        <p:spPr>
          <a:xfrm>
            <a:off x="9948672" y="2011680"/>
            <a:ext cx="219456" cy="640080"/>
          </a:xfrm>
          <a:prstGeom prst="rect">
            <a:avLst/>
          </a:prstGeom>
          <a:noFill/>
          <a:ln/>
        </p:spPr>
        <p:txBody>
          <a:bodyPr wrap="square" lIns="0" tIns="0" rIns="0" bIns="0" rtlCol="0" anchor="ctr"/>
          <a:lstStyle/>
          <a:p>
            <a:pPr marL="0" indent="0" algn="ctr">
              <a:buNone/>
            </a:pPr>
            <a:r>
              <a:rPr lang="en-US" sz="2400" b="1" dirty="0">
                <a:solidFill>
                  <a:schemeClr val="accent2"/>
                </a:solidFill>
              </a:rPr>
              <a:t>›</a:t>
            </a:r>
            <a:endParaRPr lang="en-US" sz="2400" dirty="0"/>
          </a:p>
        </p:txBody>
      </p:sp>
      <p:sp>
        <p:nvSpPr>
          <p:cNvPr id="28" name="Staff review box"/>
          <p:cNvSpPr/>
          <p:nvPr/>
        </p:nvSpPr>
        <p:spPr>
          <a:xfrm>
            <a:off x="10149840" y="1737360"/>
            <a:ext cx="1417320" cy="1188720"/>
          </a:xfrm>
          <a:prstGeom prst="roundRect">
            <a:avLst>
              <a:gd name="adj" fmla="val 7692"/>
            </a:avLst>
          </a:prstGeom>
          <a:solidFill>
            <a:schemeClr val="accent3"/>
          </a:solidFill>
          <a:ln/>
          <a:effectLst>
            <a:outerShdw blurRad="101600" dist="25400" dir="5400000" algn="bl" rotWithShape="0">
              <a:srgbClr val="000000">
                <a:alpha val="12000"/>
              </a:srgbClr>
            </a:outerShdw>
          </a:effectLst>
        </p:spPr>
      </p:sp>
      <p:sp>
        <p:nvSpPr>
          <p:cNvPr id="29" name="Text 26"/>
          <p:cNvSpPr txBox="1"/>
          <p:nvPr/>
        </p:nvSpPr>
        <p:spPr>
          <a:xfrm>
            <a:off x="10222992" y="1737360"/>
            <a:ext cx="1271016" cy="118872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Staff review</a:t>
            </a:r>
            <a:endParaRPr lang="en-US" sz="1500" dirty="0"/>
          </a:p>
        </p:txBody>
      </p:sp>
      <p:sp>
        <p:nvSpPr>
          <p:cNvPr id="30" name="Text 27"/>
          <p:cNvSpPr txBox="1"/>
          <p:nvPr/>
        </p:nvSpPr>
        <p:spPr>
          <a:xfrm>
            <a:off x="10149840" y="301752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Human decision wins</a:t>
            </a:r>
            <a:endParaRPr lang="en-US" sz="1200" dirty="0"/>
          </a:p>
        </p:txBody>
      </p:sp>
      <p:sp>
        <p:nvSpPr>
          <p:cNvPr id="31" name="audit card"/>
          <p:cNvSpPr/>
          <p:nvPr/>
        </p:nvSpPr>
        <p:spPr>
          <a:xfrm>
            <a:off x="548640" y="4114800"/>
            <a:ext cx="11064240" cy="914400"/>
          </a:xfrm>
          <a:prstGeom prst="roundRect">
            <a:avLst>
              <a:gd name="adj" fmla="val 12000"/>
            </a:avLst>
          </a:prstGeom>
          <a:solidFill>
            <a:schemeClr val="bg2"/>
          </a:solidFill>
          <a:ln/>
          <a:effectLst>
            <a:outerShdw blurRad="101600" dist="25400" dir="5400000" algn="bl" rotWithShape="0">
              <a:srgbClr val="000000">
                <a:alpha val="12000"/>
              </a:srgbClr>
            </a:outerShdw>
          </a:effectLst>
        </p:spPr>
      </p:sp>
      <p:sp>
        <p:nvSpPr>
          <p:cNvPr id="32" name="Text 29"/>
          <p:cNvSpPr txBox="1"/>
          <p:nvPr/>
        </p:nvSpPr>
        <p:spPr>
          <a:xfrm>
            <a:off x="822960" y="4114800"/>
            <a:ext cx="10515600" cy="91440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SQLite audit log  </a:t>
            </a:r>
            <a:r>
              <a:rPr lang="en-US" sz="1600" dirty="0">
                <a:solidFill>
                  <a:schemeClr val="tx1"/>
                </a:solidFill>
                <a:latin typeface="Calibri" pitchFamily="34" charset="0"/>
                <a:ea typeface="Calibri" pitchFamily="34" charset="-122"/>
                <a:cs typeface="Calibri" pitchFamily="34" charset="-120"/>
              </a:rPr>
              <a:t>flags · reviews · actions · append-only log. Staff decisions override the system and feed rule review.</a:t>
            </a:r>
            <a:endParaRPr lang="en-US" sz="1600" dirty="0"/>
          </a:p>
        </p:txBody>
      </p:sp>
      <p:sp>
        <p:nvSpPr>
          <p:cNvPr id="33" name="Text 30"/>
          <p:cNvSpPr txBox="1"/>
          <p:nvPr/>
        </p:nvSpPr>
        <p:spPr>
          <a:xfrm>
            <a:off x="548640" y="5349240"/>
            <a:ext cx="1097280" cy="36576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Stack</a:t>
            </a:r>
            <a:endParaRPr lang="en-US" sz="1400" dirty="0"/>
          </a:p>
        </p:txBody>
      </p:sp>
      <p:sp>
        <p:nvSpPr>
          <p:cNvPr id="34" name="Python 3.11 chip"/>
          <p:cNvSpPr/>
          <p:nvPr/>
        </p:nvSpPr>
        <p:spPr>
          <a:xfrm>
            <a:off x="1463040" y="5349240"/>
            <a:ext cx="1371600" cy="365760"/>
          </a:xfrm>
          <a:prstGeom prst="roundRect">
            <a:avLst>
              <a:gd name="adj" fmla="val 50000"/>
            </a:avLst>
          </a:prstGeom>
          <a:solidFill>
            <a:schemeClr val="bg2"/>
          </a:solidFill>
          <a:ln/>
        </p:spPr>
      </p:sp>
      <p:sp>
        <p:nvSpPr>
          <p:cNvPr id="35" name="Text 32"/>
          <p:cNvSpPr txBox="1"/>
          <p:nvPr/>
        </p:nvSpPr>
        <p:spPr>
          <a:xfrm>
            <a:off x="1463040" y="5349240"/>
            <a:ext cx="1371600" cy="365760"/>
          </a:xfrm>
          <a:prstGeom prst="rect">
            <a:avLst/>
          </a:prstGeom>
          <a:noFill/>
          <a:ln/>
        </p:spPr>
        <p:txBody>
          <a:bodyPr wrap="square" lIns="0" tIns="0" rIns="0" bIns="0" rtlCol="0" anchor="ctr"/>
          <a:lstStyle/>
          <a:p>
            <a:pPr marL="0" indent="0" algn="ctr">
              <a:buNone/>
            </a:pPr>
            <a:r>
              <a:rPr lang="en-US" sz="1200" dirty="0">
                <a:solidFill>
                  <a:schemeClr val="tx2"/>
                </a:solidFill>
                <a:latin typeface="Calibri" pitchFamily="34" charset="0"/>
                <a:ea typeface="Calibri" pitchFamily="34" charset="-122"/>
                <a:cs typeface="Calibri" pitchFamily="34" charset="-120"/>
              </a:rPr>
              <a:t>Python 3.11</a:t>
            </a:r>
            <a:endParaRPr lang="en-US" sz="1200" dirty="0"/>
          </a:p>
        </p:txBody>
      </p:sp>
      <p:sp>
        <p:nvSpPr>
          <p:cNvPr id="36" name="pandas · NumPy chip"/>
          <p:cNvSpPr/>
          <p:nvPr/>
        </p:nvSpPr>
        <p:spPr>
          <a:xfrm>
            <a:off x="2926080" y="5349240"/>
            <a:ext cx="1371600" cy="365760"/>
          </a:xfrm>
          <a:prstGeom prst="roundRect">
            <a:avLst>
              <a:gd name="adj" fmla="val 50000"/>
            </a:avLst>
          </a:prstGeom>
          <a:solidFill>
            <a:schemeClr val="bg2"/>
          </a:solidFill>
          <a:ln/>
        </p:spPr>
      </p:sp>
      <p:sp>
        <p:nvSpPr>
          <p:cNvPr id="37" name="Text 34"/>
          <p:cNvSpPr txBox="1"/>
          <p:nvPr/>
        </p:nvSpPr>
        <p:spPr>
          <a:xfrm>
            <a:off x="2926080" y="5349240"/>
            <a:ext cx="1371600" cy="365760"/>
          </a:xfrm>
          <a:prstGeom prst="rect">
            <a:avLst/>
          </a:prstGeom>
          <a:noFill/>
          <a:ln/>
        </p:spPr>
        <p:txBody>
          <a:bodyPr wrap="square" lIns="0" tIns="0" rIns="0" bIns="0" rtlCol="0" anchor="ctr"/>
          <a:lstStyle/>
          <a:p>
            <a:pPr marL="0" indent="0" algn="ctr">
              <a:buNone/>
            </a:pPr>
            <a:r>
              <a:rPr lang="en-US" sz="1200" dirty="0">
                <a:solidFill>
                  <a:schemeClr val="tx2"/>
                </a:solidFill>
                <a:latin typeface="Calibri" pitchFamily="34" charset="0"/>
                <a:ea typeface="Calibri" pitchFamily="34" charset="-122"/>
                <a:cs typeface="Calibri" pitchFamily="34" charset="-120"/>
              </a:rPr>
              <a:t>pandas · NumPy</a:t>
            </a:r>
            <a:endParaRPr lang="en-US" sz="1200" dirty="0"/>
          </a:p>
        </p:txBody>
      </p:sp>
      <p:sp>
        <p:nvSpPr>
          <p:cNvPr id="38" name="scikit-learn chip"/>
          <p:cNvSpPr/>
          <p:nvPr/>
        </p:nvSpPr>
        <p:spPr>
          <a:xfrm>
            <a:off x="4389120" y="5349240"/>
            <a:ext cx="1371600" cy="365760"/>
          </a:xfrm>
          <a:prstGeom prst="roundRect">
            <a:avLst>
              <a:gd name="adj" fmla="val 50000"/>
            </a:avLst>
          </a:prstGeom>
          <a:solidFill>
            <a:schemeClr val="bg2"/>
          </a:solidFill>
          <a:ln/>
        </p:spPr>
      </p:sp>
      <p:sp>
        <p:nvSpPr>
          <p:cNvPr id="39" name="Text 36"/>
          <p:cNvSpPr txBox="1"/>
          <p:nvPr/>
        </p:nvSpPr>
        <p:spPr>
          <a:xfrm>
            <a:off x="4389120" y="5349240"/>
            <a:ext cx="1371600" cy="365760"/>
          </a:xfrm>
          <a:prstGeom prst="rect">
            <a:avLst/>
          </a:prstGeom>
          <a:noFill/>
          <a:ln/>
        </p:spPr>
        <p:txBody>
          <a:bodyPr wrap="square" lIns="0" tIns="0" rIns="0" bIns="0" rtlCol="0" anchor="ctr"/>
          <a:lstStyle/>
          <a:p>
            <a:pPr marL="0" indent="0" algn="ctr">
              <a:buNone/>
            </a:pPr>
            <a:r>
              <a:rPr lang="en-US" sz="1200" dirty="0">
                <a:solidFill>
                  <a:schemeClr val="tx2"/>
                </a:solidFill>
                <a:latin typeface="Calibri" pitchFamily="34" charset="0"/>
                <a:ea typeface="Calibri" pitchFamily="34" charset="-122"/>
                <a:cs typeface="Calibri" pitchFamily="34" charset="-120"/>
              </a:rPr>
              <a:t>scikit-learn</a:t>
            </a:r>
            <a:endParaRPr lang="en-US" sz="1200" dirty="0"/>
          </a:p>
        </p:txBody>
      </p:sp>
      <p:sp>
        <p:nvSpPr>
          <p:cNvPr id="40" name="PyYAML config chip"/>
          <p:cNvSpPr/>
          <p:nvPr/>
        </p:nvSpPr>
        <p:spPr>
          <a:xfrm>
            <a:off x="5852160" y="5349240"/>
            <a:ext cx="1371600" cy="365760"/>
          </a:xfrm>
          <a:prstGeom prst="roundRect">
            <a:avLst>
              <a:gd name="adj" fmla="val 50000"/>
            </a:avLst>
          </a:prstGeom>
          <a:solidFill>
            <a:schemeClr val="bg2"/>
          </a:solidFill>
          <a:ln/>
        </p:spPr>
      </p:sp>
      <p:sp>
        <p:nvSpPr>
          <p:cNvPr id="41" name="Text 38"/>
          <p:cNvSpPr txBox="1"/>
          <p:nvPr/>
        </p:nvSpPr>
        <p:spPr>
          <a:xfrm>
            <a:off x="5852160" y="5349240"/>
            <a:ext cx="1371600" cy="365760"/>
          </a:xfrm>
          <a:prstGeom prst="rect">
            <a:avLst/>
          </a:prstGeom>
          <a:noFill/>
          <a:ln/>
        </p:spPr>
        <p:txBody>
          <a:bodyPr wrap="square" lIns="0" tIns="0" rIns="0" bIns="0" rtlCol="0" anchor="ctr"/>
          <a:lstStyle/>
          <a:p>
            <a:pPr marL="0" indent="0" algn="ctr">
              <a:buNone/>
            </a:pPr>
            <a:r>
              <a:rPr lang="en-US" sz="1200" dirty="0">
                <a:solidFill>
                  <a:schemeClr val="tx2"/>
                </a:solidFill>
                <a:latin typeface="Calibri" pitchFamily="34" charset="0"/>
                <a:ea typeface="Calibri" pitchFamily="34" charset="-122"/>
                <a:cs typeface="Calibri" pitchFamily="34" charset="-120"/>
              </a:rPr>
              <a:t>PyYAML config</a:t>
            </a:r>
            <a:endParaRPr lang="en-US" sz="1200" dirty="0"/>
          </a:p>
        </p:txBody>
      </p:sp>
      <p:sp>
        <p:nvSpPr>
          <p:cNvPr id="42" name="Streamlit · Plotly chip"/>
          <p:cNvSpPr/>
          <p:nvPr/>
        </p:nvSpPr>
        <p:spPr>
          <a:xfrm>
            <a:off x="7315200" y="5349240"/>
            <a:ext cx="1371600" cy="365760"/>
          </a:xfrm>
          <a:prstGeom prst="roundRect">
            <a:avLst>
              <a:gd name="adj" fmla="val 50000"/>
            </a:avLst>
          </a:prstGeom>
          <a:solidFill>
            <a:schemeClr val="bg2"/>
          </a:solidFill>
          <a:ln/>
        </p:spPr>
      </p:sp>
      <p:sp>
        <p:nvSpPr>
          <p:cNvPr id="43" name="Text 40"/>
          <p:cNvSpPr txBox="1"/>
          <p:nvPr/>
        </p:nvSpPr>
        <p:spPr>
          <a:xfrm>
            <a:off x="7315200" y="5349240"/>
            <a:ext cx="1371600" cy="365760"/>
          </a:xfrm>
          <a:prstGeom prst="rect">
            <a:avLst/>
          </a:prstGeom>
          <a:noFill/>
          <a:ln/>
        </p:spPr>
        <p:txBody>
          <a:bodyPr wrap="square" lIns="0" tIns="0" rIns="0" bIns="0" rtlCol="0" anchor="ctr"/>
          <a:lstStyle/>
          <a:p>
            <a:pPr marL="0" indent="0" algn="ctr">
              <a:buNone/>
            </a:pPr>
            <a:r>
              <a:rPr lang="en-US" sz="1200" dirty="0">
                <a:solidFill>
                  <a:schemeClr val="tx2"/>
                </a:solidFill>
                <a:latin typeface="Calibri" pitchFamily="34" charset="0"/>
                <a:ea typeface="Calibri" pitchFamily="34" charset="-122"/>
                <a:cs typeface="Calibri" pitchFamily="34" charset="-120"/>
              </a:rPr>
              <a:t>Streamlit · Plotly</a:t>
            </a:r>
            <a:endParaRPr lang="en-US" sz="1200" dirty="0"/>
          </a:p>
        </p:txBody>
      </p:sp>
      <p:sp>
        <p:nvSpPr>
          <p:cNvPr id="44" name="SQLite chip"/>
          <p:cNvSpPr/>
          <p:nvPr/>
        </p:nvSpPr>
        <p:spPr>
          <a:xfrm>
            <a:off x="8778240" y="5349240"/>
            <a:ext cx="1371600" cy="365760"/>
          </a:xfrm>
          <a:prstGeom prst="roundRect">
            <a:avLst>
              <a:gd name="adj" fmla="val 50000"/>
            </a:avLst>
          </a:prstGeom>
          <a:solidFill>
            <a:schemeClr val="bg2"/>
          </a:solidFill>
          <a:ln/>
        </p:spPr>
      </p:sp>
      <p:sp>
        <p:nvSpPr>
          <p:cNvPr id="45" name="Text 42"/>
          <p:cNvSpPr txBox="1"/>
          <p:nvPr/>
        </p:nvSpPr>
        <p:spPr>
          <a:xfrm>
            <a:off x="8778240" y="5349240"/>
            <a:ext cx="1371600" cy="365760"/>
          </a:xfrm>
          <a:prstGeom prst="rect">
            <a:avLst/>
          </a:prstGeom>
          <a:noFill/>
          <a:ln/>
        </p:spPr>
        <p:txBody>
          <a:bodyPr wrap="square" lIns="0" tIns="0" rIns="0" bIns="0" rtlCol="0" anchor="ctr"/>
          <a:lstStyle/>
          <a:p>
            <a:pPr marL="0" indent="0" algn="ctr">
              <a:buNone/>
            </a:pPr>
            <a:r>
              <a:rPr lang="en-US" sz="1200" dirty="0">
                <a:solidFill>
                  <a:schemeClr val="tx2"/>
                </a:solidFill>
                <a:latin typeface="Calibri" pitchFamily="34" charset="0"/>
                <a:ea typeface="Calibri" pitchFamily="34" charset="-122"/>
                <a:cs typeface="Calibri" pitchFamily="34" charset="-120"/>
              </a:rPr>
              <a:t>SQLite</a:t>
            </a:r>
            <a:endParaRPr lang="en-US" sz="1200" dirty="0"/>
          </a:p>
        </p:txBody>
      </p:sp>
      <p:sp>
        <p:nvSpPr>
          <p:cNvPr id="46" name="pytest chip"/>
          <p:cNvSpPr/>
          <p:nvPr/>
        </p:nvSpPr>
        <p:spPr>
          <a:xfrm>
            <a:off x="10241280" y="5349240"/>
            <a:ext cx="1371600" cy="365760"/>
          </a:xfrm>
          <a:prstGeom prst="roundRect">
            <a:avLst>
              <a:gd name="adj" fmla="val 50000"/>
            </a:avLst>
          </a:prstGeom>
          <a:solidFill>
            <a:schemeClr val="bg2"/>
          </a:solidFill>
          <a:ln/>
        </p:spPr>
      </p:sp>
      <p:sp>
        <p:nvSpPr>
          <p:cNvPr id="47" name="Text 44"/>
          <p:cNvSpPr txBox="1"/>
          <p:nvPr/>
        </p:nvSpPr>
        <p:spPr>
          <a:xfrm>
            <a:off x="10241280" y="5349240"/>
            <a:ext cx="1371600" cy="365760"/>
          </a:xfrm>
          <a:prstGeom prst="rect">
            <a:avLst/>
          </a:prstGeom>
          <a:noFill/>
          <a:ln/>
        </p:spPr>
        <p:txBody>
          <a:bodyPr wrap="square" lIns="0" tIns="0" rIns="0" bIns="0" rtlCol="0" anchor="ctr"/>
          <a:lstStyle/>
          <a:p>
            <a:pPr marL="0" indent="0" algn="ctr">
              <a:buNone/>
            </a:pPr>
            <a:r>
              <a:rPr lang="en-US" sz="1200" dirty="0">
                <a:solidFill>
                  <a:schemeClr val="tx2"/>
                </a:solidFill>
                <a:latin typeface="Calibri" pitchFamily="34" charset="0"/>
                <a:ea typeface="Calibri" pitchFamily="34" charset="-122"/>
                <a:cs typeface="Calibri" pitchFamily="34" charset="-120"/>
              </a:rPr>
              <a:t>pytest</a:t>
            </a:r>
            <a:endParaRPr lang="en-US" sz="1200" dirty="0"/>
          </a:p>
        </p:txBody>
      </p:sp>
      <p:sp>
        <p:nvSpPr>
          <p:cNvPr id="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Dataset: synthetic by design</a:t>
            </a:r>
            <a:endParaRPr lang="en-US" sz="3600" dirty="0"/>
          </a:p>
        </p:txBody>
      </p:sp>
      <p:sp>
        <p:nvSpPr>
          <p:cNvPr id="4" name="Text 1"/>
          <p:cNvSpPr txBox="1"/>
          <p:nvPr/>
        </p:nvSpPr>
        <p:spPr>
          <a:xfrm>
            <a:off x="548640" y="1463040"/>
            <a:ext cx="2560320" cy="82296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100</a:t>
            </a:r>
            <a:endParaRPr lang="en-US" sz="4400" dirty="0"/>
          </a:p>
        </p:txBody>
      </p:sp>
      <p:sp>
        <p:nvSpPr>
          <p:cNvPr id="5" name="Text 2"/>
          <p:cNvSpPr txBox="1"/>
          <p:nvPr/>
        </p:nvSpPr>
        <p:spPr>
          <a:xfrm>
            <a:off x="548640" y="228600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students, anonymised codes S-0001 to S-0100</a:t>
            </a:r>
            <a:endParaRPr lang="en-US" sz="1400" dirty="0"/>
          </a:p>
        </p:txBody>
      </p:sp>
      <p:sp>
        <p:nvSpPr>
          <p:cNvPr id="6" name="Text 3"/>
          <p:cNvSpPr txBox="1"/>
          <p:nvPr/>
        </p:nvSpPr>
        <p:spPr>
          <a:xfrm>
            <a:off x="3291840" y="1463040"/>
            <a:ext cx="2560320" cy="82296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1,200</a:t>
            </a:r>
            <a:endParaRPr lang="en-US" sz="4400" dirty="0"/>
          </a:p>
        </p:txBody>
      </p:sp>
      <p:sp>
        <p:nvSpPr>
          <p:cNvPr id="7" name="Text 4"/>
          <p:cNvSpPr txBox="1"/>
          <p:nvPr/>
        </p:nvSpPr>
        <p:spPr>
          <a:xfrm>
            <a:off x="3291840" y="228600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weekly records over 12 weeks</a:t>
            </a:r>
            <a:endParaRPr lang="en-US" sz="1400" dirty="0"/>
          </a:p>
        </p:txBody>
      </p:sp>
      <p:sp>
        <p:nvSpPr>
          <p:cNvPr id="8" name="Text 5"/>
          <p:cNvSpPr txBox="1"/>
          <p:nvPr/>
        </p:nvSpPr>
        <p:spPr>
          <a:xfrm>
            <a:off x="548640" y="3108960"/>
            <a:ext cx="2560320" cy="82296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7</a:t>
            </a:r>
            <a:endParaRPr lang="en-US" sz="4400" dirty="0"/>
          </a:p>
        </p:txBody>
      </p:sp>
      <p:sp>
        <p:nvSpPr>
          <p:cNvPr id="9" name="Text 6"/>
          <p:cNvSpPr txBox="1"/>
          <p:nvPr/>
        </p:nvSpPr>
        <p:spPr>
          <a:xfrm>
            <a:off x="548640" y="393192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behaviour patterns drive the data</a:t>
            </a:r>
            <a:endParaRPr lang="en-US" sz="1400" dirty="0"/>
          </a:p>
        </p:txBody>
      </p:sp>
      <p:sp>
        <p:nvSpPr>
          <p:cNvPr id="10" name="Text 7"/>
          <p:cNvSpPr txBox="1"/>
          <p:nvPr/>
        </p:nvSpPr>
        <p:spPr>
          <a:xfrm>
            <a:off x="3291840" y="3108960"/>
            <a:ext cx="2560320" cy="822960"/>
          </a:xfrm>
          <a:prstGeom prst="rect">
            <a:avLst/>
          </a:prstGeom>
          <a:noFill/>
          <a:ln/>
        </p:spPr>
        <p:txBody>
          <a:bodyPr wrap="square" lIns="0" tIns="0" rIns="0" bIns="0" rtlCol="0" anchor="t"/>
          <a:lstStyle/>
          <a:p>
            <a:pPr marL="0" indent="0">
              <a:buNone/>
            </a:pPr>
            <a:r>
              <a:rPr lang="en-US" sz="4400" b="1" dirty="0">
                <a:solidFill>
                  <a:srgbClr val="E76F51"/>
                </a:solidFill>
                <a:latin typeface="Cambria" pitchFamily="34" charset="0"/>
                <a:ea typeface="Cambria" pitchFamily="34" charset="-122"/>
                <a:cs typeface="Cambria" pitchFamily="34" charset="-120"/>
              </a:rPr>
              <a:t>29</a:t>
            </a:r>
            <a:endParaRPr lang="en-US" sz="4400" dirty="0"/>
          </a:p>
        </p:txBody>
      </p:sp>
      <p:sp>
        <p:nvSpPr>
          <p:cNvPr id="11" name="Text 8"/>
          <p:cNvSpPr txBox="1"/>
          <p:nvPr/>
        </p:nvSpPr>
        <p:spPr>
          <a:xfrm>
            <a:off x="3291840" y="393192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students truly in need (ground truth)</a:t>
            </a:r>
            <a:endParaRPr lang="en-US" sz="1400" dirty="0"/>
          </a:p>
        </p:txBody>
      </p:sp>
      <p:graphicFrame>
        <p:nvGraphicFramePr>
          <p:cNvPr id="12" name="Chart 0"/>
          <p:cNvGraphicFramePr/>
          <p:nvPr/>
        </p:nvGraphicFramePr>
        <p:xfrm>
          <a:off x="6217920" y="1371600"/>
          <a:ext cx="53949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3" name="defects card"/>
          <p:cNvSpPr/>
          <p:nvPr/>
        </p:nvSpPr>
        <p:spPr>
          <a:xfrm>
            <a:off x="548640" y="5120640"/>
            <a:ext cx="11064240" cy="1097280"/>
          </a:xfrm>
          <a:prstGeom prst="roundRect">
            <a:avLst>
              <a:gd name="adj" fmla="val 10000"/>
            </a:avLst>
          </a:prstGeom>
          <a:solidFill>
            <a:schemeClr val="bg2"/>
          </a:solidFill>
          <a:ln/>
          <a:effectLst>
            <a:outerShdw blurRad="101600" dist="25400" dir="5400000" algn="bl" rotWithShape="0">
              <a:srgbClr val="000000">
                <a:alpha val="12000"/>
              </a:srgbClr>
            </a:outerShdw>
          </a:effectLst>
        </p:spPr>
      </p:sp>
      <p:sp>
        <p:nvSpPr>
          <p:cNvPr id="14" name="Text 10"/>
          <p:cNvSpPr txBox="1"/>
          <p:nvPr/>
        </p:nvSpPr>
        <p:spPr>
          <a:xfrm>
            <a:off x="822960" y="5120640"/>
            <a:ext cx="10515600" cy="109728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Realistic mess added: </a:t>
            </a:r>
            <a:r>
              <a:rPr lang="en-US" sz="1500" dirty="0">
                <a:solidFill>
                  <a:schemeClr val="tx1"/>
                </a:solidFill>
                <a:latin typeface="Calibri" pitchFamily="34" charset="0"/>
                <a:ea typeface="Calibri" pitchFamily="34" charset="-122"/>
                <a:cs typeface="Calibri" pitchFamily="34" charset="-120"/>
              </a:rPr>
              <a:t>≈5% missing attendance, ≈8% missing quiz scores, 4 students with 3+ week gaps, 3 late joiners, duplicates and impossible values. Labels never reach the rules or models as inputs.</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How a support level is decided</a:t>
            </a:r>
            <a:endParaRPr lang="en-US" sz="3600" dirty="0"/>
          </a:p>
        </p:txBody>
      </p:sp>
      <p:sp>
        <p:nvSpPr>
          <p:cNvPr id="4" name="On Track level"/>
          <p:cNvSpPr/>
          <p:nvPr/>
        </p:nvSpPr>
        <p:spPr>
          <a:xfrm>
            <a:off x="548640" y="1463040"/>
            <a:ext cx="2103120" cy="1005840"/>
          </a:xfrm>
          <a:prstGeom prst="roundRect">
            <a:avLst>
              <a:gd name="adj" fmla="val 9091"/>
            </a:avLst>
          </a:prstGeom>
          <a:solidFill>
            <a:srgbClr val="8AB17D"/>
          </a:solidFill>
          <a:ln/>
        </p:spPr>
      </p:sp>
      <p:sp>
        <p:nvSpPr>
          <p:cNvPr id="5" name="Text 2"/>
          <p:cNvSpPr txBox="1"/>
          <p:nvPr/>
        </p:nvSpPr>
        <p:spPr>
          <a:xfrm>
            <a:off x="548640" y="1463040"/>
            <a:ext cx="2103120" cy="100584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On Track</a:t>
            </a:r>
            <a:endParaRPr lang="en-US" sz="1400" dirty="0"/>
          </a:p>
          <a:p>
            <a:pPr marL="0" indent="0" algn="ctr">
              <a:buNone/>
            </a:pPr>
            <a:r>
              <a:rPr lang="en-US" sz="1300" dirty="0">
                <a:solidFill>
                  <a:schemeClr val="bg1"/>
                </a:solidFill>
                <a:latin typeface="Calibri" pitchFamily="34" charset="0"/>
                <a:ea typeface="Calibri" pitchFamily="34" charset="-122"/>
                <a:cs typeface="Calibri" pitchFamily="34" charset="-120"/>
              </a:rPr>
              <a:t>score 0–2</a:t>
            </a:r>
            <a:endParaRPr lang="en-US" sz="1400" dirty="0"/>
          </a:p>
        </p:txBody>
      </p:sp>
      <p:sp>
        <p:nvSpPr>
          <p:cNvPr id="6" name="Monitor level"/>
          <p:cNvSpPr/>
          <p:nvPr/>
        </p:nvSpPr>
        <p:spPr>
          <a:xfrm>
            <a:off x="2788920" y="1463040"/>
            <a:ext cx="2103120" cy="1005840"/>
          </a:xfrm>
          <a:prstGeom prst="roundRect">
            <a:avLst>
              <a:gd name="adj" fmla="val 9091"/>
            </a:avLst>
          </a:prstGeom>
          <a:solidFill>
            <a:srgbClr val="F4A261"/>
          </a:solidFill>
          <a:ln/>
        </p:spPr>
      </p:sp>
      <p:sp>
        <p:nvSpPr>
          <p:cNvPr id="7" name="Text 4"/>
          <p:cNvSpPr txBox="1"/>
          <p:nvPr/>
        </p:nvSpPr>
        <p:spPr>
          <a:xfrm>
            <a:off x="2788920" y="1463040"/>
            <a:ext cx="2103120" cy="1005840"/>
          </a:xfrm>
          <a:prstGeom prst="rect">
            <a:avLst/>
          </a:prstGeom>
          <a:noFill/>
          <a:ln/>
        </p:spPr>
        <p:txBody>
          <a:bodyPr wrap="square" lIns="0" tIns="0" rIns="0" bIns="0" rtlCol="0" anchor="ctr"/>
          <a:lstStyle/>
          <a:p>
            <a:pPr marL="0" indent="0" algn="ctr">
              <a:buNone/>
            </a:pPr>
            <a:r>
              <a:rPr lang="en-US" sz="1500" b="1" dirty="0">
                <a:solidFill>
                  <a:schemeClr val="tx1"/>
                </a:solidFill>
                <a:latin typeface="Calibri" pitchFamily="34" charset="0"/>
                <a:ea typeface="Calibri" pitchFamily="34" charset="-122"/>
                <a:cs typeface="Calibri" pitchFamily="34" charset="-120"/>
              </a:rPr>
              <a:t>Monitor</a:t>
            </a:r>
            <a:endParaRPr lang="en-US" sz="1400" dirty="0"/>
          </a:p>
          <a:p>
            <a:pPr marL="0" indent="0" algn="ctr">
              <a:buNone/>
            </a:pPr>
            <a:r>
              <a:rPr lang="en-US" sz="1300" dirty="0">
                <a:solidFill>
                  <a:schemeClr val="tx1"/>
                </a:solidFill>
                <a:latin typeface="Calibri" pitchFamily="34" charset="0"/>
                <a:ea typeface="Calibri" pitchFamily="34" charset="-122"/>
                <a:cs typeface="Calibri" pitchFamily="34" charset="-120"/>
              </a:rPr>
              <a:t>score 3–4</a:t>
            </a:r>
            <a:endParaRPr lang="en-US" sz="1400" dirty="0"/>
          </a:p>
        </p:txBody>
      </p:sp>
      <p:sp>
        <p:nvSpPr>
          <p:cNvPr id="8" name="Suggest Outreach level"/>
          <p:cNvSpPr/>
          <p:nvPr/>
        </p:nvSpPr>
        <p:spPr>
          <a:xfrm>
            <a:off x="5029200" y="1463040"/>
            <a:ext cx="2103120" cy="1005840"/>
          </a:xfrm>
          <a:prstGeom prst="roundRect">
            <a:avLst>
              <a:gd name="adj" fmla="val 9091"/>
            </a:avLst>
          </a:prstGeom>
          <a:solidFill>
            <a:srgbClr val="E9965A"/>
          </a:solidFill>
          <a:ln/>
        </p:spPr>
      </p:sp>
      <p:sp>
        <p:nvSpPr>
          <p:cNvPr id="9" name="Text 6"/>
          <p:cNvSpPr txBox="1"/>
          <p:nvPr/>
        </p:nvSpPr>
        <p:spPr>
          <a:xfrm>
            <a:off x="5029200" y="1463040"/>
            <a:ext cx="2103120" cy="100584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Suggest Outreach</a:t>
            </a:r>
            <a:endParaRPr lang="en-US" sz="1400" dirty="0"/>
          </a:p>
          <a:p>
            <a:pPr marL="0" indent="0" algn="ctr">
              <a:buNone/>
            </a:pPr>
            <a:r>
              <a:rPr lang="en-US" sz="1300" dirty="0">
                <a:solidFill>
                  <a:schemeClr val="bg1"/>
                </a:solidFill>
                <a:latin typeface="Calibri" pitchFamily="34" charset="0"/>
                <a:ea typeface="Calibri" pitchFamily="34" charset="-122"/>
                <a:cs typeface="Calibri" pitchFamily="34" charset="-120"/>
              </a:rPr>
              <a:t>score 5–7</a:t>
            </a:r>
            <a:endParaRPr lang="en-US" sz="1400" dirty="0"/>
          </a:p>
        </p:txBody>
      </p:sp>
      <p:sp>
        <p:nvSpPr>
          <p:cNvPr id="10" name="Priority Check-in level"/>
          <p:cNvSpPr/>
          <p:nvPr/>
        </p:nvSpPr>
        <p:spPr>
          <a:xfrm>
            <a:off x="7269480" y="1463040"/>
            <a:ext cx="2103120" cy="1005840"/>
          </a:xfrm>
          <a:prstGeom prst="roundRect">
            <a:avLst>
              <a:gd name="adj" fmla="val 9091"/>
            </a:avLst>
          </a:prstGeom>
          <a:solidFill>
            <a:srgbClr val="E76F51"/>
          </a:solidFill>
          <a:ln/>
        </p:spPr>
      </p:sp>
      <p:sp>
        <p:nvSpPr>
          <p:cNvPr id="11" name="Text 8"/>
          <p:cNvSpPr txBox="1"/>
          <p:nvPr/>
        </p:nvSpPr>
        <p:spPr>
          <a:xfrm>
            <a:off x="7269480" y="1463040"/>
            <a:ext cx="2103120" cy="100584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Priority Check-in</a:t>
            </a:r>
            <a:endParaRPr lang="en-US" sz="1400" dirty="0"/>
          </a:p>
          <a:p>
            <a:pPr marL="0" indent="0" algn="ctr">
              <a:buNone/>
            </a:pPr>
            <a:r>
              <a:rPr lang="en-US" sz="1300" dirty="0">
                <a:solidFill>
                  <a:schemeClr val="bg1"/>
                </a:solidFill>
                <a:latin typeface="Calibri" pitchFamily="34" charset="0"/>
                <a:ea typeface="Calibri" pitchFamily="34" charset="-122"/>
                <a:cs typeface="Calibri" pitchFamily="34" charset="-120"/>
              </a:rPr>
              <a:t>score 8+</a:t>
            </a:r>
            <a:endParaRPr lang="en-US" sz="1400" dirty="0"/>
          </a:p>
        </p:txBody>
      </p:sp>
      <p:sp>
        <p:nvSpPr>
          <p:cNvPr id="12" name="Insufficient Data level"/>
          <p:cNvSpPr/>
          <p:nvPr/>
        </p:nvSpPr>
        <p:spPr>
          <a:xfrm>
            <a:off x="9509760" y="1463040"/>
            <a:ext cx="2103120" cy="1005840"/>
          </a:xfrm>
          <a:prstGeom prst="roundRect">
            <a:avLst>
              <a:gd name="adj" fmla="val 9091"/>
            </a:avLst>
          </a:prstGeom>
          <a:solidFill>
            <a:srgbClr val="5C6B73"/>
          </a:solidFill>
          <a:ln/>
        </p:spPr>
      </p:sp>
      <p:sp>
        <p:nvSpPr>
          <p:cNvPr id="13" name="Text 10"/>
          <p:cNvSpPr txBox="1"/>
          <p:nvPr/>
        </p:nvSpPr>
        <p:spPr>
          <a:xfrm>
            <a:off x="9509760" y="1463040"/>
            <a:ext cx="2103120" cy="100584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Insufficient Data</a:t>
            </a:r>
            <a:endParaRPr lang="en-US" sz="1400" dirty="0"/>
          </a:p>
          <a:p>
            <a:pPr marL="0" indent="0" algn="ctr">
              <a:buNone/>
            </a:pPr>
            <a:r>
              <a:rPr lang="en-US" sz="1300" dirty="0">
                <a:solidFill>
                  <a:schemeClr val="bg1"/>
                </a:solidFill>
                <a:latin typeface="Calibri" pitchFamily="34" charset="0"/>
                <a:ea typeface="Calibri" pitchFamily="34" charset="-122"/>
                <a:cs typeface="Calibri" pitchFamily="34" charset="-120"/>
              </a:rPr>
              <a:t>score n/a</a:t>
            </a:r>
            <a:endParaRPr lang="en-US" sz="1400" dirty="0"/>
          </a:p>
        </p:txBody>
      </p:sp>
      <p:sp>
        <p:nvSpPr>
          <p:cNvPr id="14" name="Text 11"/>
          <p:cNvSpPr txBox="1"/>
          <p:nvPr/>
        </p:nvSpPr>
        <p:spPr>
          <a:xfrm>
            <a:off x="548640" y="2743200"/>
            <a:ext cx="54864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14 concern rules, 4 families</a:t>
            </a:r>
            <a:endParaRPr lang="en-US" sz="1600" dirty="0"/>
          </a:p>
        </p:txBody>
      </p:sp>
      <p:sp>
        <p:nvSpPr>
          <p:cNvPr id="15" name="Attendance card"/>
          <p:cNvSpPr/>
          <p:nvPr/>
        </p:nvSpPr>
        <p:spPr>
          <a:xfrm>
            <a:off x="548640" y="3200400"/>
            <a:ext cx="26517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16" name="Text 13"/>
          <p:cNvSpPr txBox="1"/>
          <p:nvPr/>
        </p:nvSpPr>
        <p:spPr>
          <a:xfrm>
            <a:off x="731520" y="3291840"/>
            <a:ext cx="2286000" cy="36576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Attendance  ·  A1–A4</a:t>
            </a:r>
            <a:endParaRPr lang="en-US" sz="1500" dirty="0"/>
          </a:p>
        </p:txBody>
      </p:sp>
      <p:sp>
        <p:nvSpPr>
          <p:cNvPr id="17" name="Text 14"/>
          <p:cNvSpPr txBox="1"/>
          <p:nvPr/>
        </p:nvSpPr>
        <p:spPr>
          <a:xfrm>
            <a:off x="731520" y="3703320"/>
            <a:ext cx="22860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Low, critical, streak, drop from baseline</a:t>
            </a:r>
            <a:endParaRPr lang="en-US" sz="1400" dirty="0"/>
          </a:p>
        </p:txBody>
      </p:sp>
      <p:sp>
        <p:nvSpPr>
          <p:cNvPr id="18" name="Submission card"/>
          <p:cNvSpPr/>
          <p:nvPr/>
        </p:nvSpPr>
        <p:spPr>
          <a:xfrm>
            <a:off x="3383280" y="3200400"/>
            <a:ext cx="26517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19" name="Text 16"/>
          <p:cNvSpPr txBox="1"/>
          <p:nvPr/>
        </p:nvSpPr>
        <p:spPr>
          <a:xfrm>
            <a:off x="3566160" y="3291840"/>
            <a:ext cx="2286000" cy="36576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Submission  ·  S1–S4</a:t>
            </a:r>
            <a:endParaRPr lang="en-US" sz="1500" dirty="0"/>
          </a:p>
        </p:txBody>
      </p:sp>
      <p:sp>
        <p:nvSpPr>
          <p:cNvPr id="20" name="Text 17"/>
          <p:cNvSpPr txBox="1"/>
          <p:nvPr/>
        </p:nvSpPr>
        <p:spPr>
          <a:xfrm>
            <a:off x="3566160" y="3703320"/>
            <a:ext cx="22860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Missing, missed streak, late, low rate</a:t>
            </a:r>
            <a:endParaRPr lang="en-US" sz="1400" dirty="0"/>
          </a:p>
        </p:txBody>
      </p:sp>
      <p:sp>
        <p:nvSpPr>
          <p:cNvPr id="21" name="Assessment card"/>
          <p:cNvSpPr/>
          <p:nvPr/>
        </p:nvSpPr>
        <p:spPr>
          <a:xfrm>
            <a:off x="6217920" y="3200400"/>
            <a:ext cx="26517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22" name="Text 19"/>
          <p:cNvSpPr txBox="1"/>
          <p:nvPr/>
        </p:nvSpPr>
        <p:spPr>
          <a:xfrm>
            <a:off x="6400800" y="3291840"/>
            <a:ext cx="2286000" cy="36576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Assessment  ·  Q1–Q4</a:t>
            </a:r>
            <a:endParaRPr lang="en-US" sz="1500" dirty="0"/>
          </a:p>
        </p:txBody>
      </p:sp>
      <p:sp>
        <p:nvSpPr>
          <p:cNvPr id="23" name="Text 20"/>
          <p:cNvSpPr txBox="1"/>
          <p:nvPr/>
        </p:nvSpPr>
        <p:spPr>
          <a:xfrm>
            <a:off x="6400800" y="3703320"/>
            <a:ext cx="22860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Low quizzes, falling trend, skipped</a:t>
            </a:r>
            <a:endParaRPr lang="en-US" sz="1400" dirty="0"/>
          </a:p>
        </p:txBody>
      </p:sp>
      <p:sp>
        <p:nvSpPr>
          <p:cNvPr id="24" name="Compound card"/>
          <p:cNvSpPr/>
          <p:nvPr/>
        </p:nvSpPr>
        <p:spPr>
          <a:xfrm>
            <a:off x="9052560" y="3200400"/>
            <a:ext cx="26517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25" name="Text 22"/>
          <p:cNvSpPr txBox="1"/>
          <p:nvPr/>
        </p:nvSpPr>
        <p:spPr>
          <a:xfrm>
            <a:off x="9235440" y="3291840"/>
            <a:ext cx="2286000" cy="36576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Compound  ·  C1–C2</a:t>
            </a:r>
            <a:endParaRPr lang="en-US" sz="1500" dirty="0"/>
          </a:p>
        </p:txBody>
      </p:sp>
      <p:sp>
        <p:nvSpPr>
          <p:cNvPr id="26" name="Text 23"/>
          <p:cNvSpPr txBox="1"/>
          <p:nvPr/>
        </p:nvSpPr>
        <p:spPr>
          <a:xfrm>
            <a:off x="9235440" y="3703320"/>
            <a:ext cx="22860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All three active, or sudden change</a:t>
            </a:r>
            <a:endParaRPr lang="en-US" sz="1400" dirty="0"/>
          </a:p>
        </p:txBody>
      </p:sp>
      <p:sp>
        <p:nvSpPr>
          <p:cNvPr id="27" name="Text 24"/>
          <p:cNvSpPr txBox="1"/>
          <p:nvPr/>
        </p:nvSpPr>
        <p:spPr>
          <a:xfrm>
            <a:off x="548640" y="4892040"/>
            <a:ext cx="54864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Protective rules</a:t>
            </a:r>
            <a:endParaRPr lang="en-US" sz="1600" dirty="0"/>
          </a:p>
        </p:txBody>
      </p:sp>
      <p:sp>
        <p:nvSpPr>
          <p:cNvPr id="28" name="M1 rule"/>
          <p:cNvSpPr/>
          <p:nvPr/>
        </p:nvSpPr>
        <p:spPr>
          <a:xfrm>
            <a:off x="548640" y="5349240"/>
            <a:ext cx="2651760" cy="868680"/>
          </a:xfrm>
          <a:prstGeom prst="roundRect">
            <a:avLst>
              <a:gd name="adj" fmla="val 10526"/>
            </a:avLst>
          </a:prstGeom>
          <a:solidFill>
            <a:schemeClr val="tx2"/>
          </a:solidFill>
          <a:ln/>
        </p:spPr>
      </p:sp>
      <p:sp>
        <p:nvSpPr>
          <p:cNvPr id="29" name="Text 26"/>
          <p:cNvSpPr txBox="1"/>
          <p:nvPr/>
        </p:nvSpPr>
        <p:spPr>
          <a:xfrm>
            <a:off x="685800" y="5349240"/>
            <a:ext cx="2377440" cy="86868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M1</a:t>
            </a:r>
            <a:endParaRPr lang="en-US" sz="1400" dirty="0"/>
          </a:p>
          <a:p>
            <a:pPr marL="0" indent="0">
              <a:buNone/>
            </a:pPr>
            <a:r>
              <a:rPr lang="en-US" sz="1200" dirty="0">
                <a:solidFill>
                  <a:schemeClr val="bg1"/>
                </a:solidFill>
                <a:latin typeface="Calibri" pitchFamily="34" charset="0"/>
                <a:ea typeface="Calibri" pitchFamily="34" charset="-122"/>
                <a:cs typeface="Calibri" pitchFamily="34" charset="-120"/>
              </a:rPr>
              <a:t>Strong quizzes ≥ 80% and no missing work: −2</a:t>
            </a:r>
            <a:endParaRPr lang="en-US" sz="1400" dirty="0"/>
          </a:p>
        </p:txBody>
      </p:sp>
      <p:sp>
        <p:nvSpPr>
          <p:cNvPr id="30" name="M2 rule"/>
          <p:cNvSpPr/>
          <p:nvPr/>
        </p:nvSpPr>
        <p:spPr>
          <a:xfrm>
            <a:off x="3383280" y="5349240"/>
            <a:ext cx="2651760" cy="868680"/>
          </a:xfrm>
          <a:prstGeom prst="roundRect">
            <a:avLst>
              <a:gd name="adj" fmla="val 10526"/>
            </a:avLst>
          </a:prstGeom>
          <a:solidFill>
            <a:schemeClr val="tx2"/>
          </a:solidFill>
          <a:ln/>
        </p:spPr>
      </p:sp>
      <p:sp>
        <p:nvSpPr>
          <p:cNvPr id="31" name="Text 28"/>
          <p:cNvSpPr txBox="1"/>
          <p:nvPr/>
        </p:nvSpPr>
        <p:spPr>
          <a:xfrm>
            <a:off x="3520440" y="5349240"/>
            <a:ext cx="2377440" cy="86868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M2</a:t>
            </a:r>
            <a:endParaRPr lang="en-US" sz="1400" dirty="0"/>
          </a:p>
          <a:p>
            <a:pPr marL="0" indent="0">
              <a:buNone/>
            </a:pPr>
            <a:r>
              <a:rPr lang="en-US" sz="1200" dirty="0">
                <a:solidFill>
                  <a:schemeClr val="bg1"/>
                </a:solidFill>
                <a:latin typeface="Calibri" pitchFamily="34" charset="0"/>
                <a:ea typeface="Calibri" pitchFamily="34" charset="-122"/>
                <a:cs typeface="Calibri" pitchFamily="34" charset="-120"/>
              </a:rPr>
              <a:t>Attendance and quizzes both rising: −2</a:t>
            </a:r>
            <a:endParaRPr lang="en-US" sz="1400" dirty="0"/>
          </a:p>
        </p:txBody>
      </p:sp>
      <p:sp>
        <p:nvSpPr>
          <p:cNvPr id="32" name="Persistence rule"/>
          <p:cNvSpPr/>
          <p:nvPr/>
        </p:nvSpPr>
        <p:spPr>
          <a:xfrm>
            <a:off x="6217920" y="5349240"/>
            <a:ext cx="2651760" cy="868680"/>
          </a:xfrm>
          <a:prstGeom prst="roundRect">
            <a:avLst>
              <a:gd name="adj" fmla="val 10526"/>
            </a:avLst>
          </a:prstGeom>
          <a:solidFill>
            <a:schemeClr val="tx2"/>
          </a:solidFill>
          <a:ln/>
        </p:spPr>
      </p:sp>
      <p:sp>
        <p:nvSpPr>
          <p:cNvPr id="33" name="Text 30"/>
          <p:cNvSpPr txBox="1"/>
          <p:nvPr/>
        </p:nvSpPr>
        <p:spPr>
          <a:xfrm>
            <a:off x="6355080" y="5349240"/>
            <a:ext cx="2377440" cy="86868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Persistence</a:t>
            </a:r>
            <a:endParaRPr lang="en-US" sz="1400" dirty="0"/>
          </a:p>
          <a:p>
            <a:pPr marL="0" indent="0">
              <a:buNone/>
            </a:pPr>
            <a:r>
              <a:rPr lang="en-US" sz="1200" dirty="0">
                <a:solidFill>
                  <a:schemeClr val="bg1"/>
                </a:solidFill>
                <a:latin typeface="Calibri" pitchFamily="34" charset="0"/>
                <a:ea typeface="Calibri" pitchFamily="34" charset="-122"/>
                <a:cs typeface="Calibri" pitchFamily="34" charset="-120"/>
              </a:rPr>
              <a:t>Needs 2 of last 3 weeks (C2 exempt)</a:t>
            </a:r>
            <a:endParaRPr lang="en-US" sz="1400" dirty="0"/>
          </a:p>
        </p:txBody>
      </p:sp>
      <p:sp>
        <p:nvSpPr>
          <p:cNvPr id="34" name="M3 rule"/>
          <p:cNvSpPr/>
          <p:nvPr/>
        </p:nvSpPr>
        <p:spPr>
          <a:xfrm>
            <a:off x="9052560" y="5349240"/>
            <a:ext cx="2651760" cy="868680"/>
          </a:xfrm>
          <a:prstGeom prst="roundRect">
            <a:avLst>
              <a:gd name="adj" fmla="val 10526"/>
            </a:avLst>
          </a:prstGeom>
          <a:solidFill>
            <a:schemeClr val="tx2"/>
          </a:solidFill>
          <a:ln/>
        </p:spPr>
      </p:sp>
      <p:sp>
        <p:nvSpPr>
          <p:cNvPr id="35" name="Text 32"/>
          <p:cNvSpPr txBox="1"/>
          <p:nvPr/>
        </p:nvSpPr>
        <p:spPr>
          <a:xfrm>
            <a:off x="9189720" y="5349240"/>
            <a:ext cx="2377440" cy="86868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M3</a:t>
            </a:r>
            <a:endParaRPr lang="en-US" sz="1400" dirty="0"/>
          </a:p>
          <a:p>
            <a:pPr marL="0" indent="0">
              <a:buNone/>
            </a:pPr>
            <a:r>
              <a:rPr lang="en-US" sz="1200" dirty="0">
                <a:solidFill>
                  <a:schemeClr val="bg1"/>
                </a:solidFill>
                <a:latin typeface="Calibri" pitchFamily="34" charset="0"/>
                <a:ea typeface="Calibri" pitchFamily="34" charset="-122"/>
                <a:cs typeface="Calibri" pitchFamily="34" charset="-120"/>
              </a:rPr>
              <a:t>Low data confidence: capped at Monitor</a:t>
            </a:r>
            <a:endParaRPr lang="en-US" sz="1400" dirty="0"/>
          </a:p>
        </p:txBody>
      </p:sp>
      <p:sp>
        <p:nvSpPr>
          <p:cNvPr id="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Prototype workflow</a:t>
            </a:r>
            <a:endParaRPr lang="en-US" sz="3600" dirty="0"/>
          </a:p>
        </p:txBody>
      </p:sp>
      <p:sp>
        <p:nvSpPr>
          <p:cNvPr id="4" name="step 1"/>
          <p:cNvSpPr/>
          <p:nvPr/>
        </p:nvSpPr>
        <p:spPr>
          <a:xfrm>
            <a:off x="960120" y="1554480"/>
            <a:ext cx="731520" cy="731520"/>
          </a:xfrm>
          <a:prstGeom prst="ellipse">
            <a:avLst/>
          </a:prstGeom>
          <a:solidFill>
            <a:schemeClr val="tx2"/>
          </a:solidFill>
          <a:ln/>
        </p:spPr>
      </p:sp>
      <p:sp>
        <p:nvSpPr>
          <p:cNvPr id="5" name="Text 2"/>
          <p:cNvSpPr txBox="1"/>
          <p:nvPr/>
        </p:nvSpPr>
        <p:spPr>
          <a:xfrm>
            <a:off x="960120" y="155448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6" name="Text 3"/>
          <p:cNvSpPr txBox="1"/>
          <p:nvPr/>
        </p:nvSpPr>
        <p:spPr>
          <a:xfrm>
            <a:off x="548640" y="2468880"/>
            <a:ext cx="1508760" cy="64008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Orient</a:t>
            </a:r>
            <a:endParaRPr lang="en-US" sz="1500" dirty="0"/>
          </a:p>
        </p:txBody>
      </p:sp>
      <p:sp>
        <p:nvSpPr>
          <p:cNvPr id="7" name="Text 4"/>
          <p:cNvSpPr txBox="1"/>
          <p:nvPr/>
        </p:nvSpPr>
        <p:spPr>
          <a:xfrm>
            <a:off x="548640" y="3108960"/>
            <a:ext cx="1508760" cy="914400"/>
          </a:xfrm>
          <a:prstGeom prst="rect">
            <a:avLst/>
          </a:prstGeom>
          <a:noFill/>
          <a:ln/>
        </p:spPr>
        <p:txBody>
          <a:bodyPr wrap="square" lIns="0" tIns="0" rIns="0" bIns="0" rtlCol="0" anchor="t"/>
          <a:lstStyle/>
          <a:p>
            <a:pPr marL="0" indent="0" algn="ctr">
              <a:buNone/>
            </a:pPr>
            <a:r>
              <a:rPr lang="en-US" sz="1300" dirty="0">
                <a:solidFill>
                  <a:schemeClr val="accent6"/>
                </a:solidFill>
                <a:latin typeface="Calibri" pitchFamily="34" charset="0"/>
                <a:ea typeface="Calibri" pitchFamily="34" charset="-122"/>
                <a:cs typeface="Calibri" pitchFamily="34" charset="-120"/>
              </a:rPr>
              <a:t>Banner and data-quality summary</a:t>
            </a:r>
            <a:endParaRPr lang="en-US" sz="1300" dirty="0"/>
          </a:p>
        </p:txBody>
      </p:sp>
      <p:sp>
        <p:nvSpPr>
          <p:cNvPr id="8" name="step 2"/>
          <p:cNvSpPr/>
          <p:nvPr/>
        </p:nvSpPr>
        <p:spPr>
          <a:xfrm>
            <a:off x="2560320" y="1554480"/>
            <a:ext cx="731520" cy="731520"/>
          </a:xfrm>
          <a:prstGeom prst="ellipse">
            <a:avLst/>
          </a:prstGeom>
          <a:solidFill>
            <a:schemeClr val="tx2"/>
          </a:solidFill>
          <a:ln/>
        </p:spPr>
      </p:sp>
      <p:sp>
        <p:nvSpPr>
          <p:cNvPr id="9" name="Text 6"/>
          <p:cNvSpPr txBox="1"/>
          <p:nvPr/>
        </p:nvSpPr>
        <p:spPr>
          <a:xfrm>
            <a:off x="2560320" y="155448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0" name="Text 7"/>
          <p:cNvSpPr txBox="1"/>
          <p:nvPr/>
        </p:nvSpPr>
        <p:spPr>
          <a:xfrm>
            <a:off x="2148840" y="2468880"/>
            <a:ext cx="1508760" cy="64008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Survey</a:t>
            </a:r>
            <a:endParaRPr lang="en-US" sz="1500" dirty="0"/>
          </a:p>
        </p:txBody>
      </p:sp>
      <p:sp>
        <p:nvSpPr>
          <p:cNvPr id="11" name="Text 8"/>
          <p:cNvSpPr txBox="1"/>
          <p:nvPr/>
        </p:nvSpPr>
        <p:spPr>
          <a:xfrm>
            <a:off x="2148840" y="3108960"/>
            <a:ext cx="1508760" cy="914400"/>
          </a:xfrm>
          <a:prstGeom prst="rect">
            <a:avLst/>
          </a:prstGeom>
          <a:noFill/>
          <a:ln/>
        </p:spPr>
        <p:txBody>
          <a:bodyPr wrap="square" lIns="0" tIns="0" rIns="0" bIns="0" rtlCol="0" anchor="t"/>
          <a:lstStyle/>
          <a:p>
            <a:pPr marL="0" indent="0" algn="ctr">
              <a:buNone/>
            </a:pPr>
            <a:r>
              <a:rPr lang="en-US" sz="1300" dirty="0">
                <a:solidFill>
                  <a:schemeClr val="accent6"/>
                </a:solidFill>
                <a:latin typeface="Calibri" pitchFamily="34" charset="0"/>
                <a:ea typeface="Calibri" pitchFamily="34" charset="-122"/>
                <a:cs typeface="Calibri" pitchFamily="34" charset="-120"/>
              </a:rPr>
              <a:t>Pick the week; try what-if sliders</a:t>
            </a:r>
            <a:endParaRPr lang="en-US" sz="1300" dirty="0"/>
          </a:p>
        </p:txBody>
      </p:sp>
      <p:sp>
        <p:nvSpPr>
          <p:cNvPr id="12" name="step 3"/>
          <p:cNvSpPr/>
          <p:nvPr/>
        </p:nvSpPr>
        <p:spPr>
          <a:xfrm>
            <a:off x="4160520" y="1554480"/>
            <a:ext cx="731520" cy="731520"/>
          </a:xfrm>
          <a:prstGeom prst="ellipse">
            <a:avLst/>
          </a:prstGeom>
          <a:solidFill>
            <a:schemeClr val="tx2"/>
          </a:solidFill>
          <a:ln/>
        </p:spPr>
      </p:sp>
      <p:sp>
        <p:nvSpPr>
          <p:cNvPr id="13" name="Text 10"/>
          <p:cNvSpPr txBox="1"/>
          <p:nvPr/>
        </p:nvSpPr>
        <p:spPr>
          <a:xfrm>
            <a:off x="4160520" y="155448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4" name="Text 11"/>
          <p:cNvSpPr txBox="1"/>
          <p:nvPr/>
        </p:nvSpPr>
        <p:spPr>
          <a:xfrm>
            <a:off x="3749040" y="2468880"/>
            <a:ext cx="1508760" cy="64008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Open a student</a:t>
            </a:r>
            <a:endParaRPr lang="en-US" sz="1500" dirty="0"/>
          </a:p>
        </p:txBody>
      </p:sp>
      <p:sp>
        <p:nvSpPr>
          <p:cNvPr id="15" name="Text 12"/>
          <p:cNvSpPr txBox="1"/>
          <p:nvPr/>
        </p:nvSpPr>
        <p:spPr>
          <a:xfrm>
            <a:off x="3749040" y="3108960"/>
            <a:ext cx="1508760" cy="914400"/>
          </a:xfrm>
          <a:prstGeom prst="rect">
            <a:avLst/>
          </a:prstGeom>
          <a:noFill/>
          <a:ln/>
        </p:spPr>
        <p:txBody>
          <a:bodyPr wrap="square" lIns="0" tIns="0" rIns="0" bIns="0" rtlCol="0" anchor="t"/>
          <a:lstStyle/>
          <a:p>
            <a:pPr marL="0" indent="0" algn="ctr">
              <a:buNone/>
            </a:pPr>
            <a:r>
              <a:rPr lang="en-US" sz="1300" dirty="0">
                <a:solidFill>
                  <a:schemeClr val="accent6"/>
                </a:solidFill>
                <a:latin typeface="Calibri" pitchFamily="34" charset="0"/>
                <a:ea typeface="Calibri" pitchFamily="34" charset="-122"/>
                <a:cs typeface="Calibri" pitchFamily="34" charset="-120"/>
              </a:rPr>
              <a:t>Attendance, assignments, quizzes</a:t>
            </a:r>
            <a:endParaRPr lang="en-US" sz="1300" dirty="0"/>
          </a:p>
        </p:txBody>
      </p:sp>
      <p:sp>
        <p:nvSpPr>
          <p:cNvPr id="16" name="step 4"/>
          <p:cNvSpPr/>
          <p:nvPr/>
        </p:nvSpPr>
        <p:spPr>
          <a:xfrm>
            <a:off x="5760720" y="1554480"/>
            <a:ext cx="731520" cy="731520"/>
          </a:xfrm>
          <a:prstGeom prst="ellipse">
            <a:avLst/>
          </a:prstGeom>
          <a:solidFill>
            <a:schemeClr val="tx2"/>
          </a:solidFill>
          <a:ln/>
        </p:spPr>
      </p:sp>
      <p:sp>
        <p:nvSpPr>
          <p:cNvPr id="17" name="Text 14"/>
          <p:cNvSpPr txBox="1"/>
          <p:nvPr/>
        </p:nvSpPr>
        <p:spPr>
          <a:xfrm>
            <a:off x="5760720" y="155448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18" name="Text 15"/>
          <p:cNvSpPr txBox="1"/>
          <p:nvPr/>
        </p:nvSpPr>
        <p:spPr>
          <a:xfrm>
            <a:off x="5349240" y="2468880"/>
            <a:ext cx="1508760" cy="64008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Read the reasons</a:t>
            </a:r>
            <a:endParaRPr lang="en-US" sz="1500" dirty="0"/>
          </a:p>
        </p:txBody>
      </p:sp>
      <p:sp>
        <p:nvSpPr>
          <p:cNvPr id="19" name="Text 16"/>
          <p:cNvSpPr txBox="1"/>
          <p:nvPr/>
        </p:nvSpPr>
        <p:spPr>
          <a:xfrm>
            <a:off x="5349240" y="3108960"/>
            <a:ext cx="1508760" cy="914400"/>
          </a:xfrm>
          <a:prstGeom prst="rect">
            <a:avLst/>
          </a:prstGeom>
          <a:noFill/>
          <a:ln/>
        </p:spPr>
        <p:txBody>
          <a:bodyPr wrap="square" lIns="0" tIns="0" rIns="0" bIns="0" rtlCol="0" anchor="t"/>
          <a:lstStyle/>
          <a:p>
            <a:pPr marL="0" indent="0" algn="ctr">
              <a:buNone/>
            </a:pPr>
            <a:r>
              <a:rPr lang="en-US" sz="1300" dirty="0">
                <a:solidFill>
                  <a:schemeClr val="accent6"/>
                </a:solidFill>
                <a:latin typeface="Calibri" pitchFamily="34" charset="0"/>
                <a:ea typeface="Calibri" pitchFamily="34" charset="-122"/>
                <a:cs typeface="Calibri" pitchFamily="34" charset="-120"/>
              </a:rPr>
              <a:t>Rules, strengths, ML badge</a:t>
            </a:r>
            <a:endParaRPr lang="en-US" sz="1300" dirty="0"/>
          </a:p>
        </p:txBody>
      </p:sp>
      <p:sp>
        <p:nvSpPr>
          <p:cNvPr id="20" name="step 5"/>
          <p:cNvSpPr/>
          <p:nvPr/>
        </p:nvSpPr>
        <p:spPr>
          <a:xfrm>
            <a:off x="7360920" y="1554480"/>
            <a:ext cx="731520" cy="731520"/>
          </a:xfrm>
          <a:prstGeom prst="ellipse">
            <a:avLst/>
          </a:prstGeom>
          <a:solidFill>
            <a:schemeClr val="accent3"/>
          </a:solidFill>
          <a:ln/>
        </p:spPr>
      </p:sp>
      <p:sp>
        <p:nvSpPr>
          <p:cNvPr id="21" name="Text 18"/>
          <p:cNvSpPr txBox="1"/>
          <p:nvPr/>
        </p:nvSpPr>
        <p:spPr>
          <a:xfrm>
            <a:off x="7360920" y="155448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22" name="Text 19"/>
          <p:cNvSpPr txBox="1"/>
          <p:nvPr/>
        </p:nvSpPr>
        <p:spPr>
          <a:xfrm>
            <a:off x="6949440" y="2468880"/>
            <a:ext cx="1508760" cy="64008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Decide</a:t>
            </a:r>
            <a:endParaRPr lang="en-US" sz="1500" dirty="0"/>
          </a:p>
        </p:txBody>
      </p:sp>
      <p:sp>
        <p:nvSpPr>
          <p:cNvPr id="23" name="Text 20"/>
          <p:cNvSpPr txBox="1"/>
          <p:nvPr/>
        </p:nvSpPr>
        <p:spPr>
          <a:xfrm>
            <a:off x="6949440" y="3108960"/>
            <a:ext cx="1508760" cy="914400"/>
          </a:xfrm>
          <a:prstGeom prst="rect">
            <a:avLst/>
          </a:prstGeom>
          <a:noFill/>
          <a:ln/>
        </p:spPr>
        <p:txBody>
          <a:bodyPr wrap="square" lIns="0" tIns="0" rIns="0" bIns="0" rtlCol="0" anchor="t"/>
          <a:lstStyle/>
          <a:p>
            <a:pPr marL="0" indent="0" algn="ctr">
              <a:buNone/>
            </a:pPr>
            <a:r>
              <a:rPr lang="en-US" sz="1300" dirty="0">
                <a:solidFill>
                  <a:schemeClr val="accent6"/>
                </a:solidFill>
                <a:latin typeface="Calibri" pitchFamily="34" charset="0"/>
                <a:ea typeface="Calibri" pitchFamily="34" charset="-122"/>
                <a:cs typeface="Calibri" pitchFamily="34" charset="-120"/>
              </a:rPr>
              <a:t>Confirm, correct, dismiss, defer</a:t>
            </a:r>
            <a:endParaRPr lang="en-US" sz="1300" dirty="0"/>
          </a:p>
        </p:txBody>
      </p:sp>
      <p:sp>
        <p:nvSpPr>
          <p:cNvPr id="24" name="step 6"/>
          <p:cNvSpPr/>
          <p:nvPr/>
        </p:nvSpPr>
        <p:spPr>
          <a:xfrm>
            <a:off x="8961120" y="1554480"/>
            <a:ext cx="731520" cy="731520"/>
          </a:xfrm>
          <a:prstGeom prst="ellipse">
            <a:avLst/>
          </a:prstGeom>
          <a:solidFill>
            <a:schemeClr val="tx2"/>
          </a:solidFill>
          <a:ln/>
        </p:spPr>
      </p:sp>
      <p:sp>
        <p:nvSpPr>
          <p:cNvPr id="25" name="Text 22"/>
          <p:cNvSpPr txBox="1"/>
          <p:nvPr/>
        </p:nvSpPr>
        <p:spPr>
          <a:xfrm>
            <a:off x="8961120" y="155448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6</a:t>
            </a:r>
            <a:endParaRPr lang="en-US" sz="2200" dirty="0"/>
          </a:p>
        </p:txBody>
      </p:sp>
      <p:sp>
        <p:nvSpPr>
          <p:cNvPr id="26" name="Text 23"/>
          <p:cNvSpPr txBox="1"/>
          <p:nvPr/>
        </p:nvSpPr>
        <p:spPr>
          <a:xfrm>
            <a:off x="8549640" y="2468880"/>
            <a:ext cx="1508760" cy="64008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Plan support</a:t>
            </a:r>
            <a:endParaRPr lang="en-US" sz="1500" dirty="0"/>
          </a:p>
        </p:txBody>
      </p:sp>
      <p:sp>
        <p:nvSpPr>
          <p:cNvPr id="27" name="Text 24"/>
          <p:cNvSpPr txBox="1"/>
          <p:nvPr/>
        </p:nvSpPr>
        <p:spPr>
          <a:xfrm>
            <a:off x="8549640" y="3108960"/>
            <a:ext cx="1508760" cy="914400"/>
          </a:xfrm>
          <a:prstGeom prst="rect">
            <a:avLst/>
          </a:prstGeom>
          <a:noFill/>
          <a:ln/>
        </p:spPr>
        <p:txBody>
          <a:bodyPr wrap="square" lIns="0" tIns="0" rIns="0" bIns="0" rtlCol="0" anchor="t"/>
          <a:lstStyle/>
          <a:p>
            <a:pPr marL="0" indent="0" algn="ctr">
              <a:buNone/>
            </a:pPr>
            <a:r>
              <a:rPr lang="en-US" sz="1300" dirty="0">
                <a:solidFill>
                  <a:schemeClr val="accent6"/>
                </a:solidFill>
                <a:latin typeface="Calibri" pitchFamily="34" charset="0"/>
                <a:ea typeface="Calibri" pitchFamily="34" charset="-122"/>
                <a:cs typeface="Calibri" pitchFamily="34" charset="-120"/>
              </a:rPr>
              <a:t>Record an action and status</a:t>
            </a:r>
            <a:endParaRPr lang="en-US" sz="1300" dirty="0"/>
          </a:p>
        </p:txBody>
      </p:sp>
      <p:sp>
        <p:nvSpPr>
          <p:cNvPr id="28" name="step 7"/>
          <p:cNvSpPr/>
          <p:nvPr/>
        </p:nvSpPr>
        <p:spPr>
          <a:xfrm>
            <a:off x="10561320" y="1554480"/>
            <a:ext cx="731520" cy="731520"/>
          </a:xfrm>
          <a:prstGeom prst="ellipse">
            <a:avLst/>
          </a:prstGeom>
          <a:solidFill>
            <a:schemeClr val="tx2"/>
          </a:solidFill>
          <a:ln/>
        </p:spPr>
      </p:sp>
      <p:sp>
        <p:nvSpPr>
          <p:cNvPr id="29" name="Text 26"/>
          <p:cNvSpPr txBox="1"/>
          <p:nvPr/>
        </p:nvSpPr>
        <p:spPr>
          <a:xfrm>
            <a:off x="10561320" y="155448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7</a:t>
            </a:r>
            <a:endParaRPr lang="en-US" sz="2200" dirty="0"/>
          </a:p>
        </p:txBody>
      </p:sp>
      <p:sp>
        <p:nvSpPr>
          <p:cNvPr id="30" name="Text 27"/>
          <p:cNvSpPr txBox="1"/>
          <p:nvPr/>
        </p:nvSpPr>
        <p:spPr>
          <a:xfrm>
            <a:off x="10149840" y="2468880"/>
            <a:ext cx="1508760" cy="64008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Check</a:t>
            </a:r>
            <a:endParaRPr lang="en-US" sz="1500" dirty="0"/>
          </a:p>
        </p:txBody>
      </p:sp>
      <p:sp>
        <p:nvSpPr>
          <p:cNvPr id="31" name="Text 28"/>
          <p:cNvSpPr txBox="1"/>
          <p:nvPr/>
        </p:nvSpPr>
        <p:spPr>
          <a:xfrm>
            <a:off x="10149840" y="3108960"/>
            <a:ext cx="1508760" cy="914400"/>
          </a:xfrm>
          <a:prstGeom prst="rect">
            <a:avLst/>
          </a:prstGeom>
          <a:noFill/>
          <a:ln/>
        </p:spPr>
        <p:txBody>
          <a:bodyPr wrap="square" lIns="0" tIns="0" rIns="0" bIns="0" rtlCol="0" anchor="t"/>
          <a:lstStyle/>
          <a:p>
            <a:pPr marL="0" indent="0" algn="ctr">
              <a:buNone/>
            </a:pPr>
            <a:r>
              <a:rPr lang="en-US" sz="1300" dirty="0">
                <a:solidFill>
                  <a:schemeClr val="accent6"/>
                </a:solidFill>
                <a:latin typeface="Calibri" pitchFamily="34" charset="0"/>
                <a:ea typeface="Calibri" pitchFamily="34" charset="-122"/>
                <a:cs typeface="Calibri" pitchFamily="34" charset="-120"/>
              </a:rPr>
              <a:t>Audit log, evaluation, fairness</a:t>
            </a:r>
            <a:endParaRPr lang="en-US" sz="1300" dirty="0"/>
          </a:p>
        </p:txBody>
      </p:sp>
      <p:sp>
        <p:nvSpPr>
          <p:cNvPr id="32" name="Text 29"/>
          <p:cNvSpPr txBox="1"/>
          <p:nvPr/>
        </p:nvSpPr>
        <p:spPr>
          <a:xfrm>
            <a:off x="548640" y="4343400"/>
            <a:ext cx="73152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Seven dashboard pages plus Home</a:t>
            </a:r>
            <a:endParaRPr lang="en-US" sz="1600" dirty="0"/>
          </a:p>
        </p:txBody>
      </p:sp>
      <p:sp>
        <p:nvSpPr>
          <p:cNvPr id="33" name="Cohort Dashboard page"/>
          <p:cNvSpPr/>
          <p:nvPr/>
        </p:nvSpPr>
        <p:spPr>
          <a:xfrm>
            <a:off x="548640" y="4846320"/>
            <a:ext cx="2651760" cy="548640"/>
          </a:xfrm>
          <a:prstGeom prst="roundRect">
            <a:avLst>
              <a:gd name="adj" fmla="val 20000"/>
            </a:avLst>
          </a:prstGeom>
          <a:solidFill>
            <a:schemeClr val="bg2"/>
          </a:solidFill>
          <a:ln/>
          <a:effectLst>
            <a:outerShdw blurRad="101600" dist="25400" dir="5400000" algn="bl" rotWithShape="0">
              <a:srgbClr val="000000">
                <a:alpha val="12000"/>
              </a:srgbClr>
            </a:outerShdw>
          </a:effectLst>
        </p:spPr>
      </p:sp>
      <p:sp>
        <p:nvSpPr>
          <p:cNvPr id="34" name="Text 31"/>
          <p:cNvSpPr txBox="1"/>
          <p:nvPr/>
        </p:nvSpPr>
        <p:spPr>
          <a:xfrm>
            <a:off x="548640" y="4846320"/>
            <a:ext cx="2651760" cy="54864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Cohort Dashboard</a:t>
            </a:r>
            <a:endParaRPr lang="en-US" sz="1400" dirty="0"/>
          </a:p>
        </p:txBody>
      </p:sp>
      <p:sp>
        <p:nvSpPr>
          <p:cNvPr id="35" name="Student Detail page"/>
          <p:cNvSpPr/>
          <p:nvPr/>
        </p:nvSpPr>
        <p:spPr>
          <a:xfrm>
            <a:off x="3383280" y="4846320"/>
            <a:ext cx="2651760" cy="548640"/>
          </a:xfrm>
          <a:prstGeom prst="roundRect">
            <a:avLst>
              <a:gd name="adj" fmla="val 20000"/>
            </a:avLst>
          </a:prstGeom>
          <a:solidFill>
            <a:schemeClr val="bg2"/>
          </a:solidFill>
          <a:ln/>
          <a:effectLst>
            <a:outerShdw blurRad="101600" dist="25400" dir="5400000" algn="bl" rotWithShape="0">
              <a:srgbClr val="000000">
                <a:alpha val="12000"/>
              </a:srgbClr>
            </a:outerShdw>
          </a:effectLst>
        </p:spPr>
      </p:sp>
      <p:sp>
        <p:nvSpPr>
          <p:cNvPr id="36" name="Text 33"/>
          <p:cNvSpPr txBox="1"/>
          <p:nvPr/>
        </p:nvSpPr>
        <p:spPr>
          <a:xfrm>
            <a:off x="3383280" y="4846320"/>
            <a:ext cx="2651760" cy="54864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Student Detail</a:t>
            </a:r>
            <a:endParaRPr lang="en-US" sz="1400" dirty="0"/>
          </a:p>
        </p:txBody>
      </p:sp>
      <p:sp>
        <p:nvSpPr>
          <p:cNvPr id="37" name="Review Queue page"/>
          <p:cNvSpPr/>
          <p:nvPr/>
        </p:nvSpPr>
        <p:spPr>
          <a:xfrm>
            <a:off x="6217920" y="4846320"/>
            <a:ext cx="2651760" cy="548640"/>
          </a:xfrm>
          <a:prstGeom prst="roundRect">
            <a:avLst>
              <a:gd name="adj" fmla="val 20000"/>
            </a:avLst>
          </a:prstGeom>
          <a:solidFill>
            <a:schemeClr val="bg2"/>
          </a:solidFill>
          <a:ln/>
          <a:effectLst>
            <a:outerShdw blurRad="101600" dist="25400" dir="5400000" algn="bl" rotWithShape="0">
              <a:srgbClr val="000000">
                <a:alpha val="12000"/>
              </a:srgbClr>
            </a:outerShdw>
          </a:effectLst>
        </p:spPr>
      </p:sp>
      <p:sp>
        <p:nvSpPr>
          <p:cNvPr id="38" name="Text 35"/>
          <p:cNvSpPr txBox="1"/>
          <p:nvPr/>
        </p:nvSpPr>
        <p:spPr>
          <a:xfrm>
            <a:off x="6217920" y="4846320"/>
            <a:ext cx="2651760" cy="54864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Review Queue</a:t>
            </a:r>
            <a:endParaRPr lang="en-US" sz="1400" dirty="0"/>
          </a:p>
        </p:txBody>
      </p:sp>
      <p:sp>
        <p:nvSpPr>
          <p:cNvPr id="39" name="Evaluation page"/>
          <p:cNvSpPr/>
          <p:nvPr/>
        </p:nvSpPr>
        <p:spPr>
          <a:xfrm>
            <a:off x="9052560" y="4846320"/>
            <a:ext cx="2651760" cy="548640"/>
          </a:xfrm>
          <a:prstGeom prst="roundRect">
            <a:avLst>
              <a:gd name="adj" fmla="val 20000"/>
            </a:avLst>
          </a:prstGeom>
          <a:solidFill>
            <a:schemeClr val="bg2"/>
          </a:solidFill>
          <a:ln/>
          <a:effectLst>
            <a:outerShdw blurRad="101600" dist="25400" dir="5400000" algn="bl" rotWithShape="0">
              <a:srgbClr val="000000">
                <a:alpha val="12000"/>
              </a:srgbClr>
            </a:outerShdw>
          </a:effectLst>
        </p:spPr>
      </p:sp>
      <p:sp>
        <p:nvSpPr>
          <p:cNvPr id="40" name="Text 37"/>
          <p:cNvSpPr txBox="1"/>
          <p:nvPr/>
        </p:nvSpPr>
        <p:spPr>
          <a:xfrm>
            <a:off x="9052560" y="4846320"/>
            <a:ext cx="2651760" cy="54864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Evaluation</a:t>
            </a:r>
            <a:endParaRPr lang="en-US" sz="1400" dirty="0"/>
          </a:p>
        </p:txBody>
      </p:sp>
      <p:sp>
        <p:nvSpPr>
          <p:cNvPr id="41" name="Fairness &amp; Limits page"/>
          <p:cNvSpPr/>
          <p:nvPr/>
        </p:nvSpPr>
        <p:spPr>
          <a:xfrm>
            <a:off x="548640" y="5532120"/>
            <a:ext cx="2651760" cy="548640"/>
          </a:xfrm>
          <a:prstGeom prst="roundRect">
            <a:avLst>
              <a:gd name="adj" fmla="val 20000"/>
            </a:avLst>
          </a:prstGeom>
          <a:solidFill>
            <a:schemeClr val="bg2"/>
          </a:solidFill>
          <a:ln/>
          <a:effectLst>
            <a:outerShdw blurRad="101600" dist="25400" dir="5400000" algn="bl" rotWithShape="0">
              <a:srgbClr val="000000">
                <a:alpha val="12000"/>
              </a:srgbClr>
            </a:outerShdw>
          </a:effectLst>
        </p:spPr>
      </p:sp>
      <p:sp>
        <p:nvSpPr>
          <p:cNvPr id="42" name="Text 39"/>
          <p:cNvSpPr txBox="1"/>
          <p:nvPr/>
        </p:nvSpPr>
        <p:spPr>
          <a:xfrm>
            <a:off x="548640" y="5532120"/>
            <a:ext cx="2651760" cy="54864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Fairness &amp; Limits</a:t>
            </a:r>
            <a:endParaRPr lang="en-US" sz="1400" dirty="0"/>
          </a:p>
        </p:txBody>
      </p:sp>
      <p:sp>
        <p:nvSpPr>
          <p:cNvPr id="43" name="Feature Glossary page"/>
          <p:cNvSpPr/>
          <p:nvPr/>
        </p:nvSpPr>
        <p:spPr>
          <a:xfrm>
            <a:off x="3383280" y="5532120"/>
            <a:ext cx="2651760" cy="548640"/>
          </a:xfrm>
          <a:prstGeom prst="roundRect">
            <a:avLst>
              <a:gd name="adj" fmla="val 20000"/>
            </a:avLst>
          </a:prstGeom>
          <a:solidFill>
            <a:schemeClr val="bg2"/>
          </a:solidFill>
          <a:ln/>
          <a:effectLst>
            <a:outerShdw blurRad="101600" dist="25400" dir="5400000" algn="bl" rotWithShape="0">
              <a:srgbClr val="000000">
                <a:alpha val="12000"/>
              </a:srgbClr>
            </a:outerShdw>
          </a:effectLst>
        </p:spPr>
      </p:sp>
      <p:sp>
        <p:nvSpPr>
          <p:cNvPr id="44" name="Text 41"/>
          <p:cNvSpPr txBox="1"/>
          <p:nvPr/>
        </p:nvSpPr>
        <p:spPr>
          <a:xfrm>
            <a:off x="3383280" y="5532120"/>
            <a:ext cx="2651760" cy="54864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Feature Glossary</a:t>
            </a:r>
            <a:endParaRPr lang="en-US" sz="1400" dirty="0"/>
          </a:p>
        </p:txBody>
      </p:sp>
      <p:sp>
        <p:nvSpPr>
          <p:cNvPr id="45" name="Audit Log page"/>
          <p:cNvSpPr/>
          <p:nvPr/>
        </p:nvSpPr>
        <p:spPr>
          <a:xfrm>
            <a:off x="6217920" y="5532120"/>
            <a:ext cx="2651760" cy="548640"/>
          </a:xfrm>
          <a:prstGeom prst="roundRect">
            <a:avLst>
              <a:gd name="adj" fmla="val 20000"/>
            </a:avLst>
          </a:prstGeom>
          <a:solidFill>
            <a:schemeClr val="bg2"/>
          </a:solidFill>
          <a:ln/>
          <a:effectLst>
            <a:outerShdw blurRad="101600" dist="25400" dir="5400000" algn="bl" rotWithShape="0">
              <a:srgbClr val="000000">
                <a:alpha val="12000"/>
              </a:srgbClr>
            </a:outerShdw>
          </a:effectLst>
        </p:spPr>
      </p:sp>
      <p:sp>
        <p:nvSpPr>
          <p:cNvPr id="46" name="Text 43"/>
          <p:cNvSpPr txBox="1"/>
          <p:nvPr/>
        </p:nvSpPr>
        <p:spPr>
          <a:xfrm>
            <a:off x="6217920" y="5532120"/>
            <a:ext cx="2651760" cy="54864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Audit Log</a:t>
            </a:r>
            <a:endParaRPr lang="en-US" sz="1400" dirty="0"/>
          </a:p>
        </p:txBody>
      </p:sp>
      <p:sp>
        <p:nvSpPr>
          <p:cNvPr id="47" name="Text 44"/>
          <p:cNvSpPr txBox="1"/>
          <p:nvPr/>
        </p:nvSpPr>
        <p:spPr>
          <a:xfrm>
            <a:off x="8869680" y="5532120"/>
            <a:ext cx="2743200" cy="548640"/>
          </a:xfrm>
          <a:prstGeom prst="rect">
            <a:avLst/>
          </a:prstGeom>
          <a:noFill/>
          <a:ln/>
        </p:spPr>
        <p:txBody>
          <a:bodyPr wrap="square" lIns="0" tIns="0" rIns="0" bIns="0" rtlCol="0" anchor="ctr"/>
          <a:lstStyle/>
          <a:p>
            <a:pPr marL="0" indent="0">
              <a:buNone/>
            </a:pPr>
            <a:r>
              <a:rPr lang="en-US" sz="1200" i="1" dirty="0">
                <a:solidFill>
                  <a:schemeClr val="accent6"/>
                </a:solidFill>
                <a:latin typeface="Calibri" pitchFamily="34" charset="0"/>
                <a:ea typeface="Calibri" pitchFamily="34" charset="-122"/>
                <a:cs typeface="Calibri" pitchFamily="34" charset="-120"/>
              </a:rPr>
              <a:t>A banner on every page: SupportLens never makes academic decisions.</a:t>
            </a:r>
            <a:endParaRPr lang="en-US" sz="1200" dirty="0"/>
          </a:p>
        </p:txBody>
      </p:sp>
      <p:sp>
        <p:nvSpPr>
          <p:cNvPr id="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Two students, two outcomes</a:t>
            </a:r>
            <a:endParaRPr lang="en-US" sz="3600" dirty="0"/>
          </a:p>
        </p:txBody>
      </p:sp>
      <p:sp>
        <p:nvSpPr>
          <p:cNvPr id="4" name="S-0084 card"/>
          <p:cNvSpPr/>
          <p:nvPr/>
        </p:nvSpPr>
        <p:spPr>
          <a:xfrm>
            <a:off x="548640" y="1463040"/>
            <a:ext cx="5394960" cy="3566160"/>
          </a:xfrm>
          <a:prstGeom prst="roundRect">
            <a:avLst>
              <a:gd name="adj" fmla="val 3077"/>
            </a:avLst>
          </a:prstGeom>
          <a:solidFill>
            <a:schemeClr val="bg2"/>
          </a:solidFill>
          <a:ln/>
          <a:effectLst>
            <a:outerShdw blurRad="101600" dist="25400" dir="5400000" algn="bl" rotWithShape="0">
              <a:srgbClr val="000000">
                <a:alpha val="12000"/>
              </a:srgbClr>
            </a:outerShdw>
          </a:effectLst>
        </p:spPr>
      </p:sp>
      <p:sp>
        <p:nvSpPr>
          <p:cNvPr id="5" name="priority chip"/>
          <p:cNvSpPr/>
          <p:nvPr/>
        </p:nvSpPr>
        <p:spPr>
          <a:xfrm>
            <a:off x="822960" y="1691640"/>
            <a:ext cx="2286000" cy="457200"/>
          </a:xfrm>
          <a:prstGeom prst="roundRect">
            <a:avLst>
              <a:gd name="adj" fmla="val 50000"/>
            </a:avLst>
          </a:prstGeom>
          <a:solidFill>
            <a:schemeClr val="accent3"/>
          </a:solidFill>
          <a:ln/>
        </p:spPr>
      </p:sp>
      <p:sp>
        <p:nvSpPr>
          <p:cNvPr id="6" name="Text 3"/>
          <p:cNvSpPr txBox="1"/>
          <p:nvPr/>
        </p:nvSpPr>
        <p:spPr>
          <a:xfrm>
            <a:off x="822960" y="1691640"/>
            <a:ext cx="22860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Priority Check-in</a:t>
            </a:r>
            <a:endParaRPr lang="en-US" sz="1500" dirty="0"/>
          </a:p>
        </p:txBody>
      </p:sp>
      <p:sp>
        <p:nvSpPr>
          <p:cNvPr id="7" name="Text 4"/>
          <p:cNvSpPr txBox="1"/>
          <p:nvPr/>
        </p:nvSpPr>
        <p:spPr>
          <a:xfrm>
            <a:off x="3291840" y="1691640"/>
            <a:ext cx="246888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Student S-0084, week 10</a:t>
            </a:r>
            <a:endParaRPr lang="en-US" sz="1500" dirty="0"/>
          </a:p>
        </p:txBody>
      </p:sp>
      <p:sp>
        <p:nvSpPr>
          <p:cNvPr id="8" name="Text 5"/>
          <p:cNvSpPr txBox="1"/>
          <p:nvPr/>
        </p:nvSpPr>
        <p:spPr>
          <a:xfrm>
            <a:off x="822960" y="2377440"/>
            <a:ext cx="484632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Attendance 77% at the start, falling steadily since week 4</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2 of the last 4 assignments missing</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Recent quizzes below 50%</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Rules cite observed value vs threshold: under 75%, then under 60%, 20+ point drop</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Suggests a friendly chat about workload and timetable</a:t>
            </a:r>
            <a:endParaRPr lang="en-US" sz="1500" dirty="0"/>
          </a:p>
        </p:txBody>
      </p:sp>
      <p:sp>
        <p:nvSpPr>
          <p:cNvPr id="9" name="protected card"/>
          <p:cNvSpPr/>
          <p:nvPr/>
        </p:nvSpPr>
        <p:spPr>
          <a:xfrm>
            <a:off x="6217920" y="1463040"/>
            <a:ext cx="5394960" cy="3566160"/>
          </a:xfrm>
          <a:prstGeom prst="roundRect">
            <a:avLst>
              <a:gd name="adj" fmla="val 3077"/>
            </a:avLst>
          </a:prstGeom>
          <a:solidFill>
            <a:schemeClr val="bg2"/>
          </a:solidFill>
          <a:ln/>
          <a:effectLst>
            <a:outerShdw blurRad="101600" dist="25400" dir="5400000" algn="bl" rotWithShape="0">
              <a:srgbClr val="000000">
                <a:alpha val="12000"/>
              </a:srgbClr>
            </a:outerShdw>
          </a:effectLst>
        </p:spPr>
      </p:sp>
      <p:sp>
        <p:nvSpPr>
          <p:cNvPr id="10" name="on track chip"/>
          <p:cNvSpPr/>
          <p:nvPr/>
        </p:nvSpPr>
        <p:spPr>
          <a:xfrm>
            <a:off x="6492240" y="1691640"/>
            <a:ext cx="2286000" cy="457200"/>
          </a:xfrm>
          <a:prstGeom prst="roundRect">
            <a:avLst>
              <a:gd name="adj" fmla="val 50000"/>
            </a:avLst>
          </a:prstGeom>
          <a:solidFill>
            <a:schemeClr val="accent5"/>
          </a:solidFill>
          <a:ln/>
        </p:spPr>
      </p:sp>
      <p:sp>
        <p:nvSpPr>
          <p:cNvPr id="11" name="Text 8"/>
          <p:cNvSpPr txBox="1"/>
          <p:nvPr/>
        </p:nvSpPr>
        <p:spPr>
          <a:xfrm>
            <a:off x="6492240" y="1691640"/>
            <a:ext cx="22860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Not escalated</a:t>
            </a:r>
            <a:endParaRPr lang="en-US" sz="1500" dirty="0"/>
          </a:p>
        </p:txBody>
      </p:sp>
      <p:sp>
        <p:nvSpPr>
          <p:cNvPr id="12" name="Text 9"/>
          <p:cNvSpPr txBox="1"/>
          <p:nvPr/>
        </p:nvSpPr>
        <p:spPr>
          <a:xfrm>
            <a:off x="8961120" y="1691640"/>
            <a:ext cx="256032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60% attendance, 88% quizzes</a:t>
            </a:r>
            <a:endParaRPr lang="en-US" sz="1500" dirty="0"/>
          </a:p>
        </p:txBody>
      </p:sp>
      <p:sp>
        <p:nvSpPr>
          <p:cNvPr id="13" name="Text 10"/>
          <p:cNvSpPr txBox="1"/>
          <p:nvPr/>
        </p:nvSpPr>
        <p:spPr>
          <a:xfrm>
            <a:off x="6492240" y="2377440"/>
            <a:ext cx="484632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On-time work and strong quiz average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M1 cancels the attendance points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The page explains why, under “What’s going well”</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A plain attendance rule would have flagged this student</a:t>
            </a:r>
            <a:endParaRPr lang="en-US" sz="1500" dirty="0"/>
          </a:p>
        </p:txBody>
      </p:sp>
      <p:sp>
        <p:nvSpPr>
          <p:cNvPr id="14" name="Text 11"/>
          <p:cNvSpPr txBox="1"/>
          <p:nvPr/>
        </p:nvSpPr>
        <p:spPr>
          <a:xfrm>
            <a:off x="548640" y="5394960"/>
            <a:ext cx="11064240" cy="5486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In both cases the coordinator can correct or dismiss, and the dashboard updates straight away.</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Results at Week 10</a:t>
            </a:r>
            <a:endParaRPr lang="en-US" sz="3600" dirty="0"/>
          </a:p>
        </p:txBody>
      </p:sp>
      <p:sp>
        <p:nvSpPr>
          <p:cNvPr id="4" name="Text 1"/>
          <p:cNvSpPr txBox="1"/>
          <p:nvPr/>
        </p:nvSpPr>
        <p:spPr>
          <a:xfrm>
            <a:off x="548640" y="1463040"/>
            <a:ext cx="2468880" cy="82296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1.00</a:t>
            </a:r>
            <a:endParaRPr lang="en-US" sz="4400" dirty="0"/>
          </a:p>
        </p:txBody>
      </p:sp>
      <p:sp>
        <p:nvSpPr>
          <p:cNvPr id="5" name="Text 2"/>
          <p:cNvSpPr txBox="1"/>
          <p:nvPr/>
        </p:nvSpPr>
        <p:spPr>
          <a:xfrm>
            <a:off x="548640" y="2286000"/>
            <a:ext cx="246888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precision</a:t>
            </a:r>
            <a:endParaRPr lang="en-US" sz="1400" dirty="0"/>
          </a:p>
        </p:txBody>
      </p:sp>
      <p:sp>
        <p:nvSpPr>
          <p:cNvPr id="6" name="Text 3"/>
          <p:cNvSpPr txBox="1"/>
          <p:nvPr/>
        </p:nvSpPr>
        <p:spPr>
          <a:xfrm>
            <a:off x="3108960" y="1463040"/>
            <a:ext cx="2468880" cy="82296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0.79</a:t>
            </a:r>
            <a:endParaRPr lang="en-US" sz="4400" dirty="0"/>
          </a:p>
        </p:txBody>
      </p:sp>
      <p:sp>
        <p:nvSpPr>
          <p:cNvPr id="7" name="Text 4"/>
          <p:cNvSpPr txBox="1"/>
          <p:nvPr/>
        </p:nvSpPr>
        <p:spPr>
          <a:xfrm>
            <a:off x="3108960" y="2286000"/>
            <a:ext cx="246888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recall</a:t>
            </a:r>
            <a:endParaRPr lang="en-US" sz="1400" dirty="0"/>
          </a:p>
        </p:txBody>
      </p:sp>
      <p:sp>
        <p:nvSpPr>
          <p:cNvPr id="8" name="Text 5"/>
          <p:cNvSpPr txBox="1"/>
          <p:nvPr/>
        </p:nvSpPr>
        <p:spPr>
          <a:xfrm>
            <a:off x="548640" y="3108960"/>
            <a:ext cx="2468880" cy="82296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0.885</a:t>
            </a:r>
            <a:endParaRPr lang="en-US" sz="4400" dirty="0"/>
          </a:p>
        </p:txBody>
      </p:sp>
      <p:sp>
        <p:nvSpPr>
          <p:cNvPr id="9" name="Text 6"/>
          <p:cNvSpPr txBox="1"/>
          <p:nvPr/>
        </p:nvSpPr>
        <p:spPr>
          <a:xfrm>
            <a:off x="548640" y="3931920"/>
            <a:ext cx="246888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F1 score</a:t>
            </a:r>
            <a:endParaRPr lang="en-US" sz="1400" dirty="0"/>
          </a:p>
        </p:txBody>
      </p:sp>
      <p:sp>
        <p:nvSpPr>
          <p:cNvPr id="10" name="Text 7"/>
          <p:cNvSpPr txBox="1"/>
          <p:nvPr/>
        </p:nvSpPr>
        <p:spPr>
          <a:xfrm>
            <a:off x="3108960" y="3108960"/>
            <a:ext cx="2468880" cy="822960"/>
          </a:xfrm>
          <a:prstGeom prst="rect">
            <a:avLst/>
          </a:prstGeom>
          <a:noFill/>
          <a:ln/>
        </p:spPr>
        <p:txBody>
          <a:bodyPr wrap="square" lIns="0" tIns="0" rIns="0" bIns="0" rtlCol="0" anchor="t"/>
          <a:lstStyle/>
          <a:p>
            <a:pPr marL="0" indent="0">
              <a:buNone/>
            </a:pPr>
            <a:r>
              <a:rPr lang="en-US" sz="4400" b="1" dirty="0">
                <a:solidFill>
                  <a:srgbClr val="E76F51"/>
                </a:solidFill>
                <a:latin typeface="Cambria" pitchFamily="34" charset="0"/>
                <a:ea typeface="Cambria" pitchFamily="34" charset="-122"/>
                <a:cs typeface="Cambria" pitchFamily="34" charset="-120"/>
              </a:rPr>
              <a:t>23%</a:t>
            </a:r>
            <a:endParaRPr lang="en-US" sz="4400" dirty="0"/>
          </a:p>
        </p:txBody>
      </p:sp>
      <p:sp>
        <p:nvSpPr>
          <p:cNvPr id="11" name="Text 8"/>
          <p:cNvSpPr txBox="1"/>
          <p:nvPr/>
        </p:nvSpPr>
        <p:spPr>
          <a:xfrm>
            <a:off x="3108960" y="3931920"/>
            <a:ext cx="246888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of class flagged (target &lt; 25%)</a:t>
            </a:r>
            <a:endParaRPr lang="en-US" sz="1400" dirty="0"/>
          </a:p>
        </p:txBody>
      </p:sp>
      <p:graphicFrame>
        <p:nvGraphicFramePr>
          <p:cNvPr id="12" name="Chart 0"/>
          <p:cNvGraphicFramePr/>
          <p:nvPr/>
        </p:nvGraphicFramePr>
        <p:xfrm>
          <a:off x="5943600" y="1371600"/>
          <a:ext cx="56692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3" name="ml note card"/>
          <p:cNvSpPr/>
          <p:nvPr/>
        </p:nvSpPr>
        <p:spPr>
          <a:xfrm>
            <a:off x="548640" y="5212080"/>
            <a:ext cx="11064240" cy="1005840"/>
          </a:xfrm>
          <a:prstGeom prst="roundRect">
            <a:avLst>
              <a:gd name="adj" fmla="val 10909"/>
            </a:avLst>
          </a:prstGeom>
          <a:solidFill>
            <a:schemeClr val="bg2"/>
          </a:solidFill>
          <a:ln/>
          <a:effectLst>
            <a:outerShdw blurRad="101600" dist="25400" dir="5400000" algn="bl" rotWithShape="0">
              <a:srgbClr val="000000">
                <a:alpha val="12000"/>
              </a:srgbClr>
            </a:outerShdw>
          </a:effectLst>
        </p:spPr>
      </p:sp>
      <p:sp>
        <p:nvSpPr>
          <p:cNvPr id="14" name="Text 10"/>
          <p:cNvSpPr txBox="1"/>
          <p:nvPr/>
        </p:nvSpPr>
        <p:spPr>
          <a:xfrm>
            <a:off x="822960" y="5212080"/>
            <a:ext cx="10515600" cy="100584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Machine-learning cross-check: </a:t>
            </a:r>
            <a:r>
              <a:rPr lang="en-US" sz="1400" dirty="0">
                <a:solidFill>
                  <a:schemeClr val="tx1"/>
                </a:solidFill>
                <a:latin typeface="Calibri" pitchFamily="34" charset="0"/>
                <a:ea typeface="Calibri" pitchFamily="34" charset="-122"/>
                <a:cs typeface="Calibri" pitchFamily="34" charset="-120"/>
              </a:rPr>
              <a:t>held-out ROC-AUC 0.974 (cross-validated 0.978 ± 0.020). Their table rows include training data, so we treat them as proof the features carry signal, not as proof they beat the rules.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Where it fails, and what we learned</a:t>
            </a:r>
            <a:endParaRPr lang="en-US" sz="3600" dirty="0"/>
          </a:p>
        </p:txBody>
      </p:sp>
      <p:sp>
        <p:nvSpPr>
          <p:cNvPr id="4" name="Text 1"/>
          <p:cNvSpPr txBox="1"/>
          <p:nvPr/>
        </p:nvSpPr>
        <p:spPr>
          <a:xfrm>
            <a:off x="548640" y="1417320"/>
            <a:ext cx="512064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Rule engine, Week 10</a:t>
            </a:r>
            <a:endParaRPr lang="en-US" sz="1600" dirty="0"/>
          </a:p>
        </p:txBody>
      </p:sp>
      <p:sp>
        <p:nvSpPr>
          <p:cNvPr id="5" name="Correctly flagged cell"/>
          <p:cNvSpPr/>
          <p:nvPr/>
        </p:nvSpPr>
        <p:spPr>
          <a:xfrm>
            <a:off x="548640" y="1920240"/>
            <a:ext cx="2468880" cy="1783080"/>
          </a:xfrm>
          <a:prstGeom prst="roundRect">
            <a:avLst>
              <a:gd name="adj" fmla="val 6154"/>
            </a:avLst>
          </a:prstGeom>
          <a:solidFill>
            <a:srgbClr val="2A9D8F"/>
          </a:solidFill>
          <a:ln/>
        </p:spPr>
      </p:sp>
      <p:sp>
        <p:nvSpPr>
          <p:cNvPr id="6" name="Text 3"/>
          <p:cNvSpPr txBox="1"/>
          <p:nvPr/>
        </p:nvSpPr>
        <p:spPr>
          <a:xfrm>
            <a:off x="548640" y="1920240"/>
            <a:ext cx="2468880" cy="178308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23</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Correctly flagged</a:t>
            </a:r>
            <a:endParaRPr lang="en-US" sz="1400" dirty="0"/>
          </a:p>
        </p:txBody>
      </p:sp>
      <p:sp>
        <p:nvSpPr>
          <p:cNvPr id="7" name="False alarms cell"/>
          <p:cNvSpPr/>
          <p:nvPr/>
        </p:nvSpPr>
        <p:spPr>
          <a:xfrm>
            <a:off x="3154680" y="1920240"/>
            <a:ext cx="2468880" cy="1783080"/>
          </a:xfrm>
          <a:prstGeom prst="roundRect">
            <a:avLst>
              <a:gd name="adj" fmla="val 6154"/>
            </a:avLst>
          </a:prstGeom>
          <a:solidFill>
            <a:srgbClr val="EAF4F4"/>
          </a:solidFill>
          <a:ln/>
        </p:spPr>
      </p:sp>
      <p:sp>
        <p:nvSpPr>
          <p:cNvPr id="8" name="Text 5"/>
          <p:cNvSpPr txBox="1"/>
          <p:nvPr/>
        </p:nvSpPr>
        <p:spPr>
          <a:xfrm>
            <a:off x="3154680" y="1920240"/>
            <a:ext cx="2468880" cy="1783080"/>
          </a:xfrm>
          <a:prstGeom prst="rect">
            <a:avLst/>
          </a:prstGeom>
          <a:noFill/>
          <a:ln/>
        </p:spPr>
        <p:txBody>
          <a:bodyPr wrap="square" lIns="0" tIns="0" rIns="0" bIns="0" rtlCol="0" anchor="ctr"/>
          <a:lstStyle/>
          <a:p>
            <a:pPr marL="0" indent="0" algn="ctr">
              <a:buNone/>
            </a:pPr>
            <a:r>
              <a:rPr lang="en-US" sz="4400" b="1" dirty="0">
                <a:solidFill>
                  <a:srgbClr val="1B2A33"/>
                </a:solidFill>
                <a:latin typeface="Cambria" pitchFamily="34" charset="0"/>
                <a:ea typeface="Cambria" pitchFamily="34" charset="-122"/>
                <a:cs typeface="Cambria" pitchFamily="34" charset="-120"/>
              </a:rPr>
              <a:t>0</a:t>
            </a:r>
            <a:endParaRPr lang="en-US" sz="1400" dirty="0"/>
          </a:p>
          <a:p>
            <a:pPr marL="0" indent="0" algn="ctr">
              <a:buNone/>
            </a:pPr>
            <a:r>
              <a:rPr lang="en-US" sz="1400" dirty="0">
                <a:solidFill>
                  <a:srgbClr val="1B2A33"/>
                </a:solidFill>
                <a:latin typeface="Calibri" pitchFamily="34" charset="0"/>
                <a:ea typeface="Calibri" pitchFamily="34" charset="-122"/>
                <a:cs typeface="Calibri" pitchFamily="34" charset="-120"/>
              </a:rPr>
              <a:t>False alarms</a:t>
            </a:r>
            <a:endParaRPr lang="en-US" sz="1400" dirty="0"/>
          </a:p>
        </p:txBody>
      </p:sp>
      <p:sp>
        <p:nvSpPr>
          <p:cNvPr id="9" name="Missed cell"/>
          <p:cNvSpPr/>
          <p:nvPr/>
        </p:nvSpPr>
        <p:spPr>
          <a:xfrm>
            <a:off x="548640" y="3840480"/>
            <a:ext cx="2468880" cy="1783080"/>
          </a:xfrm>
          <a:prstGeom prst="roundRect">
            <a:avLst>
              <a:gd name="adj" fmla="val 6154"/>
            </a:avLst>
          </a:prstGeom>
          <a:solidFill>
            <a:srgbClr val="E76F51"/>
          </a:solidFill>
          <a:ln/>
        </p:spPr>
      </p:sp>
      <p:sp>
        <p:nvSpPr>
          <p:cNvPr id="10" name="Text 7"/>
          <p:cNvSpPr txBox="1"/>
          <p:nvPr/>
        </p:nvSpPr>
        <p:spPr>
          <a:xfrm>
            <a:off x="548640" y="3840480"/>
            <a:ext cx="2468880" cy="178308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6</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Missed</a:t>
            </a:r>
            <a:endParaRPr lang="en-US" sz="1400" dirty="0"/>
          </a:p>
        </p:txBody>
      </p:sp>
      <p:sp>
        <p:nvSpPr>
          <p:cNvPr id="11" name="Correctly not flagged cell"/>
          <p:cNvSpPr/>
          <p:nvPr/>
        </p:nvSpPr>
        <p:spPr>
          <a:xfrm>
            <a:off x="3154680" y="3840480"/>
            <a:ext cx="2468880" cy="1783080"/>
          </a:xfrm>
          <a:prstGeom prst="roundRect">
            <a:avLst>
              <a:gd name="adj" fmla="val 6154"/>
            </a:avLst>
          </a:prstGeom>
          <a:solidFill>
            <a:srgbClr val="EAF4F4"/>
          </a:solidFill>
          <a:ln/>
        </p:spPr>
      </p:sp>
      <p:sp>
        <p:nvSpPr>
          <p:cNvPr id="12" name="Text 9"/>
          <p:cNvSpPr txBox="1"/>
          <p:nvPr/>
        </p:nvSpPr>
        <p:spPr>
          <a:xfrm>
            <a:off x="3154680" y="3840480"/>
            <a:ext cx="2468880" cy="1783080"/>
          </a:xfrm>
          <a:prstGeom prst="rect">
            <a:avLst/>
          </a:prstGeom>
          <a:noFill/>
          <a:ln/>
        </p:spPr>
        <p:txBody>
          <a:bodyPr wrap="square" lIns="0" tIns="0" rIns="0" bIns="0" rtlCol="0" anchor="ctr"/>
          <a:lstStyle/>
          <a:p>
            <a:pPr marL="0" indent="0" algn="ctr">
              <a:buNone/>
            </a:pPr>
            <a:r>
              <a:rPr lang="en-US" sz="4400" b="1" dirty="0">
                <a:solidFill>
                  <a:srgbClr val="1B2A33"/>
                </a:solidFill>
                <a:latin typeface="Cambria" pitchFamily="34" charset="0"/>
                <a:ea typeface="Cambria" pitchFamily="34" charset="-122"/>
                <a:cs typeface="Cambria" pitchFamily="34" charset="-120"/>
              </a:rPr>
              <a:t>71</a:t>
            </a:r>
            <a:endParaRPr lang="en-US" sz="1400" dirty="0"/>
          </a:p>
          <a:p>
            <a:pPr marL="0" indent="0" algn="ctr">
              <a:buNone/>
            </a:pPr>
            <a:r>
              <a:rPr lang="en-US" sz="1400" dirty="0">
                <a:solidFill>
                  <a:srgbClr val="1B2A33"/>
                </a:solidFill>
                <a:latin typeface="Calibri" pitchFamily="34" charset="0"/>
                <a:ea typeface="Calibri" pitchFamily="34" charset="-122"/>
                <a:cs typeface="Calibri" pitchFamily="34" charset="-120"/>
              </a:rPr>
              <a:t>Correctly not flagged</a:t>
            </a:r>
            <a:endParaRPr lang="en-US" sz="1400" dirty="0"/>
          </a:p>
        </p:txBody>
      </p:sp>
      <p:sp>
        <p:nvSpPr>
          <p:cNvPr id="13" name="FaSmile badge"/>
          <p:cNvSpPr/>
          <p:nvPr/>
        </p:nvSpPr>
        <p:spPr>
          <a:xfrm>
            <a:off x="6126480" y="1508760"/>
            <a:ext cx="548640" cy="548640"/>
          </a:xfrm>
          <a:prstGeom prst="ellipse">
            <a:avLst/>
          </a:prstGeom>
          <a:solidFill>
            <a:srgbClr val="0F4C5C"/>
          </a:solidFill>
          <a:ln/>
        </p:spPr>
      </p:sp>
      <p:pic>
        <p:nvPicPr>
          <p:cNvPr id="14" name="Image 0" descr="Smile icon"/>
          <p:cNvPicPr>
            <a:picLocks noChangeAspect="1"/>
          </p:cNvPicPr>
          <p:nvPr/>
        </p:nvPicPr>
        <p:blipFill>
          <a:blip r:embed="rId3"/>
          <a:stretch>
            <a:fillRect/>
          </a:stretch>
        </p:blipFill>
        <p:spPr>
          <a:xfrm>
            <a:off x="6263640" y="1645920"/>
            <a:ext cx="274320" cy="274320"/>
          </a:xfrm>
          <a:prstGeom prst="rect">
            <a:avLst/>
          </a:prstGeom>
        </p:spPr>
      </p:pic>
      <p:sp>
        <p:nvSpPr>
          <p:cNvPr id="15" name="Text 11"/>
          <p:cNvSpPr txBox="1"/>
          <p:nvPr/>
        </p:nvSpPr>
        <p:spPr>
          <a:xfrm>
            <a:off x="6858000" y="1463040"/>
            <a:ext cx="4754880" cy="41148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6 missed, all “average / variable”</a:t>
            </a:r>
            <a:endParaRPr lang="en-US" sz="1600" dirty="0"/>
          </a:p>
        </p:txBody>
      </p:sp>
      <p:sp>
        <p:nvSpPr>
          <p:cNvPr id="16" name="Text 12"/>
          <p:cNvSpPr txBox="1"/>
          <p:nvPr/>
        </p:nvSpPr>
        <p:spPr>
          <a:xfrm>
            <a:off x="6858000" y="1874520"/>
            <a:ext cx="47548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Their labels are a random 20% draw unrelated to weekly behaviour, so no behavioural tool could catch them. Hence: supplements, not replaces, teachers.</a:t>
            </a:r>
            <a:endParaRPr lang="en-US" sz="1400" dirty="0"/>
          </a:p>
        </p:txBody>
      </p:sp>
      <p:sp>
        <p:nvSpPr>
          <p:cNvPr id="17" name="FaRegClock badge"/>
          <p:cNvSpPr/>
          <p:nvPr/>
        </p:nvSpPr>
        <p:spPr>
          <a:xfrm>
            <a:off x="6126480" y="3063240"/>
            <a:ext cx="548640" cy="548640"/>
          </a:xfrm>
          <a:prstGeom prst="ellipse">
            <a:avLst/>
          </a:prstGeom>
          <a:solidFill>
            <a:srgbClr val="0F4C5C"/>
          </a:solidFill>
          <a:ln/>
        </p:spPr>
      </p:sp>
      <p:pic>
        <p:nvPicPr>
          <p:cNvPr id="18" name="Image 1" descr="RegClock icon"/>
          <p:cNvPicPr>
            <a:picLocks noChangeAspect="1"/>
          </p:cNvPicPr>
          <p:nvPr/>
        </p:nvPicPr>
        <p:blipFill>
          <a:blip r:embed="rId4"/>
          <a:stretch>
            <a:fillRect/>
          </a:stretch>
        </p:blipFill>
        <p:spPr>
          <a:xfrm>
            <a:off x="6263640" y="3200400"/>
            <a:ext cx="274320" cy="274320"/>
          </a:xfrm>
          <a:prstGeom prst="rect">
            <a:avLst/>
          </a:prstGeom>
        </p:spPr>
      </p:pic>
      <p:sp>
        <p:nvSpPr>
          <p:cNvPr id="19" name="Text 14"/>
          <p:cNvSpPr txBox="1"/>
          <p:nvPr/>
        </p:nvSpPr>
        <p:spPr>
          <a:xfrm>
            <a:off x="6858000" y="3017520"/>
            <a:ext cx="4754880" cy="41148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First flag at week 7.0 on average</a:t>
            </a:r>
            <a:endParaRPr lang="en-US" sz="1600" dirty="0"/>
          </a:p>
        </p:txBody>
      </p:sp>
      <p:sp>
        <p:nvSpPr>
          <p:cNvPr id="20" name="Text 15"/>
          <p:cNvSpPr txBox="1"/>
          <p:nvPr/>
        </p:nvSpPr>
        <p:spPr>
          <a:xfrm>
            <a:off x="6858000" y="3429000"/>
            <a:ext cx="47548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24 of 29 flagged at some point; 55% by week 8. Sudden droppers change in week 8 by design.</a:t>
            </a:r>
            <a:endParaRPr lang="en-US" sz="1400" dirty="0"/>
          </a:p>
        </p:txBody>
      </p:sp>
      <p:sp>
        <p:nvSpPr>
          <p:cNvPr id="21" name="FaShieldAlt badge"/>
          <p:cNvSpPr/>
          <p:nvPr/>
        </p:nvSpPr>
        <p:spPr>
          <a:xfrm>
            <a:off x="6126480" y="4617720"/>
            <a:ext cx="548640" cy="548640"/>
          </a:xfrm>
          <a:prstGeom prst="ellipse">
            <a:avLst/>
          </a:prstGeom>
          <a:solidFill>
            <a:srgbClr val="0F4C5C"/>
          </a:solidFill>
          <a:ln/>
        </p:spPr>
      </p:sp>
      <p:pic>
        <p:nvPicPr>
          <p:cNvPr id="22" name="Image 2" descr="ShieldAlt icon"/>
          <p:cNvPicPr>
            <a:picLocks noChangeAspect="1"/>
          </p:cNvPicPr>
          <p:nvPr/>
        </p:nvPicPr>
        <p:blipFill>
          <a:blip r:embed="rId5"/>
          <a:stretch>
            <a:fillRect/>
          </a:stretch>
        </p:blipFill>
        <p:spPr>
          <a:xfrm>
            <a:off x="6263640" y="4754880"/>
            <a:ext cx="274320" cy="274320"/>
          </a:xfrm>
          <a:prstGeom prst="rect">
            <a:avLst/>
          </a:prstGeom>
        </p:spPr>
      </p:pic>
      <p:sp>
        <p:nvSpPr>
          <p:cNvPr id="23" name="Text 17"/>
          <p:cNvSpPr txBox="1"/>
          <p:nvPr/>
        </p:nvSpPr>
        <p:spPr>
          <a:xfrm>
            <a:off x="6858000" y="4572000"/>
            <a:ext cx="4754880" cy="41148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Protective rules help, modestly</a:t>
            </a:r>
            <a:endParaRPr lang="en-US" sz="1600" dirty="0"/>
          </a:p>
        </p:txBody>
      </p:sp>
      <p:sp>
        <p:nvSpPr>
          <p:cNvPr id="24" name="Text 18"/>
          <p:cNvSpPr txBox="1"/>
          <p:nvPr/>
        </p:nvSpPr>
        <p:spPr>
          <a:xfrm>
            <a:off x="6858000" y="4983480"/>
            <a:ext cx="4754880" cy="1051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M1 and M2 cut false positives from 2 to 0 (F1 0.852 → 0.885). Persistence is not yet measured.</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Robustness and fairness</a:t>
            </a:r>
            <a:endParaRPr lang="en-US" sz="3600" dirty="0"/>
          </a:p>
        </p:txBody>
      </p:sp>
      <p:sp>
        <p:nvSpPr>
          <p:cNvPr id="4" name="Text 1"/>
          <p:cNvSpPr txBox="1"/>
          <p:nvPr/>
        </p:nvSpPr>
        <p:spPr>
          <a:xfrm>
            <a:off x="548640" y="1417320"/>
            <a:ext cx="50292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Stability and missing data</a:t>
            </a:r>
            <a:endParaRPr lang="en-US" sz="1600" dirty="0"/>
          </a:p>
        </p:txBody>
      </p:sp>
      <p:sp>
        <p:nvSpPr>
          <p:cNvPr id="5" name="Text 2"/>
          <p:cNvSpPr txBox="1"/>
          <p:nvPr/>
        </p:nvSpPr>
        <p:spPr>
          <a:xfrm>
            <a:off x="548640" y="1828800"/>
            <a:ext cx="2560320" cy="822960"/>
          </a:xfrm>
          <a:prstGeom prst="rect">
            <a:avLst/>
          </a:prstGeom>
          <a:noFill/>
          <a:ln/>
        </p:spPr>
        <p:txBody>
          <a:bodyPr wrap="square" lIns="0" tIns="0" rIns="0" bIns="0" rtlCol="0" anchor="t"/>
          <a:lstStyle/>
          <a:p>
            <a:pPr marL="0" indent="0">
              <a:buNone/>
            </a:pPr>
            <a:r>
              <a:rPr lang="en-US" sz="3200" b="1" dirty="0">
                <a:solidFill>
                  <a:schemeClr val="accent2"/>
                </a:solidFill>
                <a:latin typeface="Cambria" pitchFamily="34" charset="0"/>
                <a:ea typeface="Cambria" pitchFamily="34" charset="-122"/>
                <a:cs typeface="Cambria" pitchFamily="34" charset="-120"/>
              </a:rPr>
              <a:t>0.84–0.96</a:t>
            </a:r>
            <a:endParaRPr lang="en-US" sz="3200" dirty="0"/>
          </a:p>
        </p:txBody>
      </p:sp>
      <p:sp>
        <p:nvSpPr>
          <p:cNvPr id="6" name="Text 3"/>
          <p:cNvSpPr txBox="1"/>
          <p:nvPr/>
        </p:nvSpPr>
        <p:spPr>
          <a:xfrm>
            <a:off x="548640" y="265176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F1 across 5 generated cohorts</a:t>
            </a:r>
            <a:endParaRPr lang="en-US" sz="1400" dirty="0"/>
          </a:p>
        </p:txBody>
      </p:sp>
      <p:sp>
        <p:nvSpPr>
          <p:cNvPr id="7" name="Text 4"/>
          <p:cNvSpPr txBox="1"/>
          <p:nvPr/>
        </p:nvSpPr>
        <p:spPr>
          <a:xfrm>
            <a:off x="3200400" y="1828800"/>
            <a:ext cx="2560320" cy="822960"/>
          </a:xfrm>
          <a:prstGeom prst="rect">
            <a:avLst/>
          </a:prstGeom>
          <a:noFill/>
          <a:ln/>
        </p:spPr>
        <p:txBody>
          <a:bodyPr wrap="square" lIns="0" tIns="0" rIns="0" bIns="0" rtlCol="0" anchor="t"/>
          <a:lstStyle/>
          <a:p>
            <a:pPr marL="0" indent="0">
              <a:buNone/>
            </a:pPr>
            <a:r>
              <a:rPr lang="en-US" sz="3200" b="1" dirty="0">
                <a:solidFill>
                  <a:schemeClr val="accent2"/>
                </a:solidFill>
                <a:latin typeface="Cambria" pitchFamily="34" charset="0"/>
                <a:ea typeface="Cambria" pitchFamily="34" charset="-122"/>
                <a:cs typeface="Cambria" pitchFamily="34" charset="-120"/>
              </a:rPr>
              <a:t>21–23%</a:t>
            </a:r>
            <a:endParaRPr lang="en-US" sz="3200" dirty="0"/>
          </a:p>
        </p:txBody>
      </p:sp>
      <p:sp>
        <p:nvSpPr>
          <p:cNvPr id="8" name="Text 5"/>
          <p:cNvSpPr txBox="1"/>
          <p:nvPr/>
        </p:nvSpPr>
        <p:spPr>
          <a:xfrm>
            <a:off x="3200400" y="265176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flagged share, stays steady</a:t>
            </a:r>
            <a:endParaRPr lang="en-US" sz="1400" dirty="0"/>
          </a:p>
        </p:txBody>
      </p:sp>
      <p:sp>
        <p:nvSpPr>
          <p:cNvPr id="9" name="Text 6"/>
          <p:cNvSpPr txBox="1"/>
          <p:nvPr/>
        </p:nvSpPr>
        <p:spPr>
          <a:xfrm>
            <a:off x="548640" y="3474720"/>
            <a:ext cx="2560320" cy="822960"/>
          </a:xfrm>
          <a:prstGeom prst="rect">
            <a:avLst/>
          </a:prstGeom>
          <a:noFill/>
          <a:ln/>
        </p:spPr>
        <p:txBody>
          <a:bodyPr wrap="square" lIns="0" tIns="0" rIns="0" bIns="0" rtlCol="0" anchor="t"/>
          <a:lstStyle/>
          <a:p>
            <a:pPr marL="0" indent="0">
              <a:buNone/>
            </a:pPr>
            <a:r>
              <a:rPr lang="en-US" sz="3200" b="1" dirty="0">
                <a:solidFill>
                  <a:schemeClr val="accent2"/>
                </a:solidFill>
                <a:latin typeface="Cambria" pitchFamily="34" charset="0"/>
                <a:ea typeface="Cambria" pitchFamily="34" charset="-122"/>
                <a:cs typeface="Cambria" pitchFamily="34" charset="-120"/>
              </a:rPr>
              <a:t>0.885→0.636</a:t>
            </a:r>
            <a:endParaRPr lang="en-US" sz="3200" dirty="0"/>
          </a:p>
        </p:txBody>
      </p:sp>
      <p:sp>
        <p:nvSpPr>
          <p:cNvPr id="10" name="Text 7"/>
          <p:cNvSpPr txBox="1"/>
          <p:nvPr/>
        </p:nvSpPr>
        <p:spPr>
          <a:xfrm>
            <a:off x="548640" y="429768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F1 with 30% more data deleted (FPR ≤ 1.4%)</a:t>
            </a:r>
            <a:endParaRPr lang="en-US" sz="1400" dirty="0"/>
          </a:p>
        </p:txBody>
      </p:sp>
      <p:sp>
        <p:nvSpPr>
          <p:cNvPr id="11" name="Text 8"/>
          <p:cNvSpPr txBox="1"/>
          <p:nvPr/>
        </p:nvSpPr>
        <p:spPr>
          <a:xfrm>
            <a:off x="3200400" y="3474720"/>
            <a:ext cx="2560320" cy="822960"/>
          </a:xfrm>
          <a:prstGeom prst="rect">
            <a:avLst/>
          </a:prstGeom>
          <a:noFill/>
          <a:ln/>
        </p:spPr>
        <p:txBody>
          <a:bodyPr wrap="square" lIns="0" tIns="0" rIns="0" bIns="0" rtlCol="0" anchor="t"/>
          <a:lstStyle/>
          <a:p>
            <a:pPr marL="0" indent="0">
              <a:buNone/>
            </a:pPr>
            <a:r>
              <a:rPr lang="en-US" sz="3200" b="1" dirty="0">
                <a:solidFill>
                  <a:srgbClr val="E76F51"/>
                </a:solidFill>
                <a:latin typeface="Cambria" pitchFamily="34" charset="0"/>
                <a:ea typeface="Cambria" pitchFamily="34" charset="-122"/>
                <a:cs typeface="Cambria" pitchFamily="34" charset="-120"/>
              </a:rPr>
              <a:t>90→3</a:t>
            </a:r>
            <a:endParaRPr lang="en-US" sz="3200" dirty="0"/>
          </a:p>
        </p:txBody>
      </p:sp>
      <p:sp>
        <p:nvSpPr>
          <p:cNvPr id="12" name="Text 9"/>
          <p:cNvSpPr txBox="1"/>
          <p:nvPr/>
        </p:nvSpPr>
        <p:spPr>
          <a:xfrm>
            <a:off x="3200400" y="4297680"/>
            <a:ext cx="2560320" cy="5486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High-confidence students: system turns cautious</a:t>
            </a:r>
            <a:endParaRPr lang="en-US" sz="1400" dirty="0"/>
          </a:p>
        </p:txBody>
      </p:sp>
      <p:graphicFrame>
        <p:nvGraphicFramePr>
          <p:cNvPr id="13" name="Chart 0"/>
          <p:cNvGraphicFramePr/>
          <p:nvPr/>
        </p:nvGraphicFramePr>
        <p:xfrm>
          <a:off x="6126480" y="1371600"/>
          <a:ext cx="54864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4" name="fairness note card"/>
          <p:cNvSpPr/>
          <p:nvPr/>
        </p:nvSpPr>
        <p:spPr>
          <a:xfrm>
            <a:off x="6126480" y="4892040"/>
            <a:ext cx="5486400" cy="1325880"/>
          </a:xfrm>
          <a:prstGeom prst="roundRect">
            <a:avLst>
              <a:gd name="adj" fmla="val 8276"/>
            </a:avLst>
          </a:prstGeom>
          <a:solidFill>
            <a:schemeClr val="bg2"/>
          </a:solidFill>
          <a:ln/>
          <a:effectLst>
            <a:outerShdw blurRad="101600" dist="25400" dir="5400000" algn="bl" rotWithShape="0">
              <a:srgbClr val="000000">
                <a:alpha val="12000"/>
              </a:srgbClr>
            </a:outerShdw>
          </a:effectLst>
        </p:spPr>
      </p:sp>
      <p:sp>
        <p:nvSpPr>
          <p:cNvPr id="15" name="Text 11"/>
          <p:cNvSpPr txBox="1"/>
          <p:nvPr/>
        </p:nvSpPr>
        <p:spPr>
          <a:xfrm>
            <a:off x="6355080" y="4892040"/>
            <a:ext cx="5029200" cy="1325880"/>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Section flag rates range from 17.6% (B) to 28.6% (A). Section B recall is 0.60 on 10 true-need students (4 missed were borderline average/variable). Note: Synthetic dataset does not establish real-world fairness or effectiveness.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Responsible-AI considerations</a:t>
            </a:r>
            <a:endParaRPr lang="en-US" sz="3600" dirty="0"/>
          </a:p>
        </p:txBody>
      </p:sp>
      <p:sp>
        <p:nvSpPr>
          <p:cNvPr id="4" name="Privacy card"/>
          <p:cNvSpPr/>
          <p:nvPr/>
        </p:nvSpPr>
        <p:spPr>
          <a:xfrm>
            <a:off x="548640" y="1463040"/>
            <a:ext cx="3566160" cy="2194560"/>
          </a:xfrm>
          <a:prstGeom prst="roundRect">
            <a:avLst>
              <a:gd name="adj" fmla="val 5000"/>
            </a:avLst>
          </a:prstGeom>
          <a:solidFill>
            <a:schemeClr val="bg2"/>
          </a:solidFill>
          <a:ln/>
          <a:effectLst>
            <a:outerShdw blurRad="101600" dist="25400" dir="5400000" algn="bl" rotWithShape="0">
              <a:srgbClr val="000000">
                <a:alpha val="12000"/>
              </a:srgbClr>
            </a:outerShdw>
          </a:effectLst>
        </p:spPr>
      </p:sp>
      <p:sp>
        <p:nvSpPr>
          <p:cNvPr id="5" name="FaLock badge"/>
          <p:cNvSpPr/>
          <p:nvPr/>
        </p:nvSpPr>
        <p:spPr>
          <a:xfrm>
            <a:off x="777240" y="1691640"/>
            <a:ext cx="594360" cy="594360"/>
          </a:xfrm>
          <a:prstGeom prst="ellipse">
            <a:avLst/>
          </a:prstGeom>
          <a:solidFill>
            <a:srgbClr val="2A9D8F"/>
          </a:solidFill>
          <a:ln/>
        </p:spPr>
      </p:sp>
      <p:pic>
        <p:nvPicPr>
          <p:cNvPr id="6" name="Image 0" descr="Lock icon"/>
          <p:cNvPicPr>
            <a:picLocks noChangeAspect="1"/>
          </p:cNvPicPr>
          <p:nvPr/>
        </p:nvPicPr>
        <p:blipFill>
          <a:blip r:embed="rId3"/>
          <a:stretch>
            <a:fillRect/>
          </a:stretch>
        </p:blipFill>
        <p:spPr>
          <a:xfrm>
            <a:off x="925830" y="1840230"/>
            <a:ext cx="297180" cy="297180"/>
          </a:xfrm>
          <a:prstGeom prst="rect">
            <a:avLst/>
          </a:prstGeom>
        </p:spPr>
      </p:pic>
      <p:sp>
        <p:nvSpPr>
          <p:cNvPr id="7" name="Text 3"/>
          <p:cNvSpPr txBox="1"/>
          <p:nvPr/>
        </p:nvSpPr>
        <p:spPr>
          <a:xfrm>
            <a:off x="1554480" y="1691640"/>
            <a:ext cx="2377440" cy="5943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Privacy</a:t>
            </a:r>
            <a:endParaRPr lang="en-US" sz="1800" dirty="0"/>
          </a:p>
        </p:txBody>
      </p:sp>
      <p:sp>
        <p:nvSpPr>
          <p:cNvPr id="8" name="Text 4"/>
          <p:cNvSpPr txBox="1"/>
          <p:nvPr/>
        </p:nvSpPr>
        <p:spPr>
          <a:xfrm>
            <a:off x="777240" y="2468880"/>
            <a:ext cx="31089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No real data; shuffled codes; only 3 weekly signals; no free text, location or health data</a:t>
            </a:r>
            <a:endParaRPr lang="en-US" sz="1400" dirty="0"/>
          </a:p>
        </p:txBody>
      </p:sp>
      <p:sp>
        <p:nvSpPr>
          <p:cNvPr id="9" name="Bias and fairness card"/>
          <p:cNvSpPr/>
          <p:nvPr/>
        </p:nvSpPr>
        <p:spPr>
          <a:xfrm>
            <a:off x="4297680" y="1463040"/>
            <a:ext cx="3566160" cy="2194560"/>
          </a:xfrm>
          <a:prstGeom prst="roundRect">
            <a:avLst>
              <a:gd name="adj" fmla="val 5000"/>
            </a:avLst>
          </a:prstGeom>
          <a:solidFill>
            <a:schemeClr val="bg2"/>
          </a:solidFill>
          <a:ln/>
          <a:effectLst>
            <a:outerShdw blurRad="101600" dist="25400" dir="5400000" algn="bl" rotWithShape="0">
              <a:srgbClr val="000000">
                <a:alpha val="12000"/>
              </a:srgbClr>
            </a:outerShdw>
          </a:effectLst>
        </p:spPr>
      </p:sp>
      <p:sp>
        <p:nvSpPr>
          <p:cNvPr id="10" name="FaBalanceScale badge"/>
          <p:cNvSpPr/>
          <p:nvPr/>
        </p:nvSpPr>
        <p:spPr>
          <a:xfrm>
            <a:off x="4526280" y="1691640"/>
            <a:ext cx="594360" cy="594360"/>
          </a:xfrm>
          <a:prstGeom prst="ellipse">
            <a:avLst/>
          </a:prstGeom>
          <a:solidFill>
            <a:srgbClr val="2A9D8F"/>
          </a:solidFill>
          <a:ln/>
        </p:spPr>
      </p:sp>
      <p:pic>
        <p:nvPicPr>
          <p:cNvPr id="11" name="Image 1" descr="BalanceScale icon"/>
          <p:cNvPicPr>
            <a:picLocks noChangeAspect="1"/>
          </p:cNvPicPr>
          <p:nvPr/>
        </p:nvPicPr>
        <p:blipFill>
          <a:blip r:embed="rId4"/>
          <a:stretch>
            <a:fillRect/>
          </a:stretch>
        </p:blipFill>
        <p:spPr>
          <a:xfrm>
            <a:off x="4674870" y="1840230"/>
            <a:ext cx="297180" cy="297180"/>
          </a:xfrm>
          <a:prstGeom prst="rect">
            <a:avLst/>
          </a:prstGeom>
        </p:spPr>
      </p:pic>
      <p:sp>
        <p:nvSpPr>
          <p:cNvPr id="12" name="Text 7"/>
          <p:cNvSpPr txBox="1"/>
          <p:nvPr/>
        </p:nvSpPr>
        <p:spPr>
          <a:xfrm>
            <a:off x="5303520" y="1691640"/>
            <a:ext cx="2377440" cy="5943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Bias and fairness</a:t>
            </a:r>
            <a:endParaRPr lang="en-US" sz="1800" dirty="0"/>
          </a:p>
        </p:txBody>
      </p:sp>
      <p:sp>
        <p:nvSpPr>
          <p:cNvPr id="13" name="Text 8"/>
          <p:cNvSpPr txBox="1"/>
          <p:nvPr/>
        </p:nvSpPr>
        <p:spPr>
          <a:xfrm>
            <a:off x="4526280" y="2468880"/>
            <a:ext cx="31089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Group attributes kept out of models; multi-signal agreement; audited by group</a:t>
            </a:r>
            <a:endParaRPr lang="en-US" sz="1400" dirty="0"/>
          </a:p>
        </p:txBody>
      </p:sp>
      <p:sp>
        <p:nvSpPr>
          <p:cNvPr id="14" name="Security card"/>
          <p:cNvSpPr/>
          <p:nvPr/>
        </p:nvSpPr>
        <p:spPr>
          <a:xfrm>
            <a:off x="8046720" y="1463040"/>
            <a:ext cx="3566160" cy="2194560"/>
          </a:xfrm>
          <a:prstGeom prst="roundRect">
            <a:avLst>
              <a:gd name="adj" fmla="val 5000"/>
            </a:avLst>
          </a:prstGeom>
          <a:solidFill>
            <a:schemeClr val="bg2"/>
          </a:solidFill>
          <a:ln/>
          <a:effectLst>
            <a:outerShdw blurRad="101600" dist="25400" dir="5400000" algn="bl" rotWithShape="0">
              <a:srgbClr val="000000">
                <a:alpha val="12000"/>
              </a:srgbClr>
            </a:outerShdw>
          </a:effectLst>
        </p:spPr>
      </p:sp>
      <p:sp>
        <p:nvSpPr>
          <p:cNvPr id="15" name="FaShieldAlt badge"/>
          <p:cNvSpPr/>
          <p:nvPr/>
        </p:nvSpPr>
        <p:spPr>
          <a:xfrm>
            <a:off x="8275320" y="1691640"/>
            <a:ext cx="594360" cy="594360"/>
          </a:xfrm>
          <a:prstGeom prst="ellipse">
            <a:avLst/>
          </a:prstGeom>
          <a:solidFill>
            <a:srgbClr val="2A9D8F"/>
          </a:solidFill>
          <a:ln/>
        </p:spPr>
      </p:sp>
      <p:pic>
        <p:nvPicPr>
          <p:cNvPr id="16" name="Image 2" descr="ShieldAlt icon"/>
          <p:cNvPicPr>
            <a:picLocks noChangeAspect="1"/>
          </p:cNvPicPr>
          <p:nvPr/>
        </p:nvPicPr>
        <p:blipFill>
          <a:blip r:embed="rId5"/>
          <a:stretch>
            <a:fillRect/>
          </a:stretch>
        </p:blipFill>
        <p:spPr>
          <a:xfrm>
            <a:off x="8423910" y="1840230"/>
            <a:ext cx="297180" cy="297180"/>
          </a:xfrm>
          <a:prstGeom prst="rect">
            <a:avLst/>
          </a:prstGeom>
        </p:spPr>
      </p:pic>
      <p:sp>
        <p:nvSpPr>
          <p:cNvPr id="17" name="Text 11"/>
          <p:cNvSpPr txBox="1"/>
          <p:nvPr/>
        </p:nvSpPr>
        <p:spPr>
          <a:xfrm>
            <a:off x="9052560" y="1691640"/>
            <a:ext cx="2377440" cy="5943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Security</a:t>
            </a:r>
            <a:endParaRPr lang="en-US" sz="1800" dirty="0"/>
          </a:p>
        </p:txBody>
      </p:sp>
      <p:sp>
        <p:nvSpPr>
          <p:cNvPr id="18" name="Text 12"/>
          <p:cNvSpPr txBox="1"/>
          <p:nvPr/>
        </p:nvSpPr>
        <p:spPr>
          <a:xfrm>
            <a:off x="8275320" y="2468880"/>
            <a:ext cx="31089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Local, parameterised SQL, append-only log. Login and encryption still to do</a:t>
            </a:r>
            <a:endParaRPr lang="en-US" sz="1400" dirty="0"/>
          </a:p>
        </p:txBody>
      </p:sp>
      <p:sp>
        <p:nvSpPr>
          <p:cNvPr id="19" name="Accessibility card"/>
          <p:cNvSpPr/>
          <p:nvPr/>
        </p:nvSpPr>
        <p:spPr>
          <a:xfrm>
            <a:off x="548640" y="3840480"/>
            <a:ext cx="3566160" cy="2194560"/>
          </a:xfrm>
          <a:prstGeom prst="roundRect">
            <a:avLst>
              <a:gd name="adj" fmla="val 5000"/>
            </a:avLst>
          </a:prstGeom>
          <a:solidFill>
            <a:schemeClr val="bg2"/>
          </a:solidFill>
          <a:ln/>
          <a:effectLst>
            <a:outerShdw blurRad="101600" dist="25400" dir="5400000" algn="bl" rotWithShape="0">
              <a:srgbClr val="000000">
                <a:alpha val="12000"/>
              </a:srgbClr>
            </a:outerShdw>
          </a:effectLst>
        </p:spPr>
      </p:sp>
      <p:sp>
        <p:nvSpPr>
          <p:cNvPr id="20" name="FaUniversalAccess badge"/>
          <p:cNvSpPr/>
          <p:nvPr/>
        </p:nvSpPr>
        <p:spPr>
          <a:xfrm>
            <a:off x="777240" y="4069080"/>
            <a:ext cx="594360" cy="594360"/>
          </a:xfrm>
          <a:prstGeom prst="ellipse">
            <a:avLst/>
          </a:prstGeom>
          <a:solidFill>
            <a:srgbClr val="2A9D8F"/>
          </a:solidFill>
          <a:ln/>
        </p:spPr>
      </p:sp>
      <p:pic>
        <p:nvPicPr>
          <p:cNvPr id="21" name="Image 3" descr="UniversalAccess icon"/>
          <p:cNvPicPr>
            <a:picLocks noChangeAspect="1"/>
          </p:cNvPicPr>
          <p:nvPr/>
        </p:nvPicPr>
        <p:blipFill>
          <a:blip r:embed="rId6"/>
          <a:stretch>
            <a:fillRect/>
          </a:stretch>
        </p:blipFill>
        <p:spPr>
          <a:xfrm>
            <a:off x="925830" y="4217670"/>
            <a:ext cx="297180" cy="297180"/>
          </a:xfrm>
          <a:prstGeom prst="rect">
            <a:avLst/>
          </a:prstGeom>
        </p:spPr>
      </p:pic>
      <p:sp>
        <p:nvSpPr>
          <p:cNvPr id="22" name="Text 15"/>
          <p:cNvSpPr txBox="1"/>
          <p:nvPr/>
        </p:nvSpPr>
        <p:spPr>
          <a:xfrm>
            <a:off x="1554480" y="4069080"/>
            <a:ext cx="2377440" cy="5943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Accessibility</a:t>
            </a:r>
            <a:endParaRPr lang="en-US" sz="1800" dirty="0"/>
          </a:p>
        </p:txBody>
      </p:sp>
      <p:sp>
        <p:nvSpPr>
          <p:cNvPr id="23" name="Text 16"/>
          <p:cNvSpPr txBox="1"/>
          <p:nvPr/>
        </p:nvSpPr>
        <p:spPr>
          <a:xfrm>
            <a:off x="777240" y="4846320"/>
            <a:ext cx="31089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Badges pair colour with text; plain language; WCAG audit still to do</a:t>
            </a:r>
            <a:endParaRPr lang="en-US" sz="1400" dirty="0"/>
          </a:p>
        </p:txBody>
      </p:sp>
      <p:sp>
        <p:nvSpPr>
          <p:cNvPr id="24" name="Human oversight card"/>
          <p:cNvSpPr/>
          <p:nvPr/>
        </p:nvSpPr>
        <p:spPr>
          <a:xfrm>
            <a:off x="4297680" y="3840480"/>
            <a:ext cx="3566160" cy="2194560"/>
          </a:xfrm>
          <a:prstGeom prst="roundRect">
            <a:avLst>
              <a:gd name="adj" fmla="val 5000"/>
            </a:avLst>
          </a:prstGeom>
          <a:solidFill>
            <a:schemeClr val="bg2"/>
          </a:solidFill>
          <a:ln/>
          <a:effectLst>
            <a:outerShdw blurRad="101600" dist="25400" dir="5400000" algn="bl" rotWithShape="0">
              <a:srgbClr val="000000">
                <a:alpha val="12000"/>
              </a:srgbClr>
            </a:outerShdw>
          </a:effectLst>
        </p:spPr>
      </p:sp>
      <p:sp>
        <p:nvSpPr>
          <p:cNvPr id="25" name="FaUserCheck badge"/>
          <p:cNvSpPr/>
          <p:nvPr/>
        </p:nvSpPr>
        <p:spPr>
          <a:xfrm>
            <a:off x="4526280" y="4069080"/>
            <a:ext cx="594360" cy="594360"/>
          </a:xfrm>
          <a:prstGeom prst="ellipse">
            <a:avLst/>
          </a:prstGeom>
          <a:solidFill>
            <a:srgbClr val="2A9D8F"/>
          </a:solidFill>
          <a:ln/>
        </p:spPr>
      </p:sp>
      <p:pic>
        <p:nvPicPr>
          <p:cNvPr id="26" name="Image 4" descr="UserCheck icon"/>
          <p:cNvPicPr>
            <a:picLocks noChangeAspect="1"/>
          </p:cNvPicPr>
          <p:nvPr/>
        </p:nvPicPr>
        <p:blipFill>
          <a:blip r:embed="rId7"/>
          <a:stretch>
            <a:fillRect/>
          </a:stretch>
        </p:blipFill>
        <p:spPr>
          <a:xfrm>
            <a:off x="4674870" y="4217670"/>
            <a:ext cx="297180" cy="297180"/>
          </a:xfrm>
          <a:prstGeom prst="rect">
            <a:avLst/>
          </a:prstGeom>
        </p:spPr>
      </p:pic>
      <p:sp>
        <p:nvSpPr>
          <p:cNvPr id="27" name="Text 19"/>
          <p:cNvSpPr txBox="1"/>
          <p:nvPr/>
        </p:nvSpPr>
        <p:spPr>
          <a:xfrm>
            <a:off x="5303520" y="4069080"/>
            <a:ext cx="2377440" cy="5943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Human oversight</a:t>
            </a:r>
            <a:endParaRPr lang="en-US" sz="1800" dirty="0"/>
          </a:p>
        </p:txBody>
      </p:sp>
      <p:sp>
        <p:nvSpPr>
          <p:cNvPr id="28" name="Text 20"/>
          <p:cNvSpPr txBox="1"/>
          <p:nvPr/>
        </p:nvSpPr>
        <p:spPr>
          <a:xfrm>
            <a:off x="4526280" y="4846320"/>
            <a:ext cx="31089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Nothing happens without a coordinator; corrections need reasons that improve the tool</a:t>
            </a:r>
            <a:endParaRPr lang="en-US" sz="1400" dirty="0"/>
          </a:p>
        </p:txBody>
      </p:sp>
      <p:sp>
        <p:nvSpPr>
          <p:cNvPr id="29" name="Text 21"/>
          <p:cNvSpPr txBox="1"/>
          <p:nvPr/>
        </p:nvSpPr>
        <p:spPr>
          <a:xfrm>
            <a:off x="8046720" y="3840480"/>
            <a:ext cx="3566160" cy="2194560"/>
          </a:xfrm>
          <a:prstGeom prst="rect">
            <a:avLst/>
          </a:prstGeom>
          <a:noFill/>
          <a:ln/>
        </p:spPr>
        <p:txBody>
          <a:bodyPr wrap="square" lIns="0" tIns="0" rIns="0" bIns="0" rtlCol="0" anchor="ctr"/>
          <a:lstStyle/>
          <a:p>
            <a:pPr marL="0" indent="0">
              <a:buNone/>
            </a:pPr>
            <a:r>
              <a:rPr lang="en-US" sz="1600" i="1" dirty="0">
                <a:solidFill>
                  <a:schemeClr val="accent6"/>
                </a:solidFill>
                <a:latin typeface="Calibri" pitchFamily="34" charset="0"/>
                <a:ea typeface="Calibri" pitchFamily="34" charset="-122"/>
                <a:cs typeface="Calibri" pitchFamily="34" charset="-120"/>
              </a:rPr>
              <a:t>No flag does not mean no need: private struggles will not show in these signals.</a:t>
            </a:r>
            <a:endParaRPr lang="en-US" sz="1600" dirty="0"/>
          </a:p>
        </p:txBody>
      </p:sp>
      <p:sp>
        <p:nvSpPr>
          <p:cNvPr id="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SDG alignment</a:t>
            </a:r>
            <a:endParaRPr lang="en-US" sz="3600" dirty="0"/>
          </a:p>
        </p:txBody>
      </p:sp>
      <p:sp>
        <p:nvSpPr>
          <p:cNvPr id="4" name="SDG 4 card"/>
          <p:cNvSpPr/>
          <p:nvPr/>
        </p:nvSpPr>
        <p:spPr>
          <a:xfrm>
            <a:off x="548640" y="1463040"/>
            <a:ext cx="2651760" cy="420624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5" name="SDG 4 tile"/>
          <p:cNvSpPr/>
          <p:nvPr/>
        </p:nvSpPr>
        <p:spPr>
          <a:xfrm>
            <a:off x="777240" y="1691640"/>
            <a:ext cx="2194560" cy="1097280"/>
          </a:xfrm>
          <a:prstGeom prst="roundRect">
            <a:avLst>
              <a:gd name="adj" fmla="val 8333"/>
            </a:avLst>
          </a:prstGeom>
          <a:solidFill>
            <a:srgbClr val="0A8F4D"/>
          </a:solidFill>
          <a:ln/>
        </p:spPr>
      </p:sp>
      <p:sp>
        <p:nvSpPr>
          <p:cNvPr id="6" name="Text 3"/>
          <p:cNvSpPr txBox="1"/>
          <p:nvPr/>
        </p:nvSpPr>
        <p:spPr>
          <a:xfrm>
            <a:off x="777240" y="1691640"/>
            <a:ext cx="2194560" cy="10972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SDG</a:t>
            </a:r>
            <a:endParaRPr lang="en-US" sz="1400" dirty="0"/>
          </a:p>
          <a:p>
            <a:pPr marL="0" indent="0" algn="ctr">
              <a:buNone/>
            </a:pPr>
            <a:r>
              <a:rPr lang="en-US" sz="3600" b="1" dirty="0">
                <a:solidFill>
                  <a:schemeClr val="bg1"/>
                </a:solidFill>
                <a:latin typeface="Cambria" pitchFamily="34" charset="0"/>
                <a:ea typeface="Cambria" pitchFamily="34" charset="-122"/>
                <a:cs typeface="Cambria" pitchFamily="34" charset="-120"/>
              </a:rPr>
              <a:t>4</a:t>
            </a:r>
            <a:endParaRPr lang="en-US" sz="1400" dirty="0"/>
          </a:p>
        </p:txBody>
      </p:sp>
      <p:sp>
        <p:nvSpPr>
          <p:cNvPr id="7" name="Text 4"/>
          <p:cNvSpPr txBox="1"/>
          <p:nvPr/>
        </p:nvSpPr>
        <p:spPr>
          <a:xfrm>
            <a:off x="777240" y="2971800"/>
            <a:ext cx="2194560" cy="73152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Quality Education</a:t>
            </a:r>
            <a:endParaRPr lang="en-US" sz="1700" dirty="0"/>
          </a:p>
        </p:txBody>
      </p:sp>
      <p:sp>
        <p:nvSpPr>
          <p:cNvPr id="8" name="Text 5"/>
          <p:cNvSpPr txBox="1"/>
          <p:nvPr/>
        </p:nvSpPr>
        <p:spPr>
          <a:xfrm>
            <a:off x="777240" y="3749040"/>
            <a:ext cx="2194560" cy="2194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Finds students falling behind early and protects unusual-but-healthy study patterns from unfair flags</a:t>
            </a:r>
            <a:endParaRPr lang="en-US" sz="1400" dirty="0"/>
          </a:p>
        </p:txBody>
      </p:sp>
      <p:sp>
        <p:nvSpPr>
          <p:cNvPr id="9" name="SDG 3 card"/>
          <p:cNvSpPr/>
          <p:nvPr/>
        </p:nvSpPr>
        <p:spPr>
          <a:xfrm>
            <a:off x="3383280" y="1463040"/>
            <a:ext cx="2651760" cy="420624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10" name="SDG 3 tile"/>
          <p:cNvSpPr/>
          <p:nvPr/>
        </p:nvSpPr>
        <p:spPr>
          <a:xfrm>
            <a:off x="3611880" y="1691640"/>
            <a:ext cx="2194560" cy="1097280"/>
          </a:xfrm>
          <a:prstGeom prst="roundRect">
            <a:avLst>
              <a:gd name="adj" fmla="val 8333"/>
            </a:avLst>
          </a:prstGeom>
          <a:solidFill>
            <a:srgbClr val="D4A017"/>
          </a:solidFill>
          <a:ln/>
        </p:spPr>
      </p:sp>
      <p:sp>
        <p:nvSpPr>
          <p:cNvPr id="11" name="Text 8"/>
          <p:cNvSpPr txBox="1"/>
          <p:nvPr/>
        </p:nvSpPr>
        <p:spPr>
          <a:xfrm>
            <a:off x="3611880" y="1691640"/>
            <a:ext cx="2194560" cy="10972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SDG</a:t>
            </a:r>
            <a:endParaRPr lang="en-US" sz="1400" dirty="0"/>
          </a:p>
          <a:p>
            <a:pPr marL="0" indent="0" algn="ctr">
              <a:buNone/>
            </a:pPr>
            <a:r>
              <a:rPr lang="en-US" sz="3600" b="1" dirty="0">
                <a:solidFill>
                  <a:schemeClr val="bg1"/>
                </a:solidFill>
                <a:latin typeface="Cambria" pitchFamily="34" charset="0"/>
                <a:ea typeface="Cambria" pitchFamily="34" charset="-122"/>
                <a:cs typeface="Cambria" pitchFamily="34" charset="-120"/>
              </a:rPr>
              <a:t>3</a:t>
            </a:r>
            <a:endParaRPr lang="en-US" sz="1400" dirty="0"/>
          </a:p>
        </p:txBody>
      </p:sp>
      <p:sp>
        <p:nvSpPr>
          <p:cNvPr id="12" name="Text 9"/>
          <p:cNvSpPr txBox="1"/>
          <p:nvPr/>
        </p:nvSpPr>
        <p:spPr>
          <a:xfrm>
            <a:off x="3611880" y="2971800"/>
            <a:ext cx="2194560" cy="73152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Good Health and Well-being</a:t>
            </a:r>
            <a:endParaRPr lang="en-US" sz="1700" dirty="0"/>
          </a:p>
        </p:txBody>
      </p:sp>
      <p:sp>
        <p:nvSpPr>
          <p:cNvPr id="13" name="Text 10"/>
          <p:cNvSpPr txBox="1"/>
          <p:nvPr/>
        </p:nvSpPr>
        <p:spPr>
          <a:xfrm>
            <a:off x="3611880" y="3749040"/>
            <a:ext cx="2194560" cy="2194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Frames flags as caring check-ins; points sustained decline to wellbeing conversations, with consent. It does not diagnose</a:t>
            </a:r>
            <a:endParaRPr lang="en-US" sz="1400" dirty="0"/>
          </a:p>
        </p:txBody>
      </p:sp>
      <p:sp>
        <p:nvSpPr>
          <p:cNvPr id="14" name="SDG 10 card"/>
          <p:cNvSpPr/>
          <p:nvPr/>
        </p:nvSpPr>
        <p:spPr>
          <a:xfrm>
            <a:off x="6217920" y="1463040"/>
            <a:ext cx="2651760" cy="420624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15" name="SDG 10 tile"/>
          <p:cNvSpPr/>
          <p:nvPr/>
        </p:nvSpPr>
        <p:spPr>
          <a:xfrm>
            <a:off x="6446520" y="1691640"/>
            <a:ext cx="2194560" cy="1097280"/>
          </a:xfrm>
          <a:prstGeom prst="roundRect">
            <a:avLst>
              <a:gd name="adj" fmla="val 8333"/>
            </a:avLst>
          </a:prstGeom>
          <a:solidFill>
            <a:srgbClr val="C0396B"/>
          </a:solidFill>
          <a:ln/>
        </p:spPr>
      </p:sp>
      <p:sp>
        <p:nvSpPr>
          <p:cNvPr id="16" name="Text 13"/>
          <p:cNvSpPr txBox="1"/>
          <p:nvPr/>
        </p:nvSpPr>
        <p:spPr>
          <a:xfrm>
            <a:off x="6446520" y="1691640"/>
            <a:ext cx="2194560" cy="10972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SDG</a:t>
            </a:r>
            <a:endParaRPr lang="en-US" sz="1400" dirty="0"/>
          </a:p>
          <a:p>
            <a:pPr marL="0" indent="0" algn="ctr">
              <a:buNone/>
            </a:pPr>
            <a:r>
              <a:rPr lang="en-US" sz="3600" b="1" dirty="0">
                <a:solidFill>
                  <a:schemeClr val="bg1"/>
                </a:solidFill>
                <a:latin typeface="Cambria" pitchFamily="34" charset="0"/>
                <a:ea typeface="Cambria" pitchFamily="34" charset="-122"/>
                <a:cs typeface="Cambria" pitchFamily="34" charset="-120"/>
              </a:rPr>
              <a:t>10</a:t>
            </a:r>
            <a:endParaRPr lang="en-US" sz="1400" dirty="0"/>
          </a:p>
        </p:txBody>
      </p:sp>
      <p:sp>
        <p:nvSpPr>
          <p:cNvPr id="17" name="Text 14"/>
          <p:cNvSpPr txBox="1"/>
          <p:nvPr/>
        </p:nvSpPr>
        <p:spPr>
          <a:xfrm>
            <a:off x="6446520" y="2971800"/>
            <a:ext cx="2194560" cy="73152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Reduced Inequalities</a:t>
            </a:r>
            <a:endParaRPr lang="en-US" sz="1700" dirty="0"/>
          </a:p>
        </p:txBody>
      </p:sp>
      <p:sp>
        <p:nvSpPr>
          <p:cNvPr id="18" name="Text 15"/>
          <p:cNvSpPr txBox="1"/>
          <p:nvPr/>
        </p:nvSpPr>
        <p:spPr>
          <a:xfrm>
            <a:off x="6446520" y="3749040"/>
            <a:ext cx="2194560" cy="2194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Makes group differences visible through the fairness audit and keeps sensitive attributes out of the models</a:t>
            </a:r>
            <a:endParaRPr lang="en-US" sz="1400" dirty="0"/>
          </a:p>
        </p:txBody>
      </p:sp>
      <p:sp>
        <p:nvSpPr>
          <p:cNvPr id="19" name="SDG 16 card"/>
          <p:cNvSpPr/>
          <p:nvPr/>
        </p:nvSpPr>
        <p:spPr>
          <a:xfrm>
            <a:off x="9052560" y="1463040"/>
            <a:ext cx="2651760" cy="4206240"/>
          </a:xfrm>
          <a:prstGeom prst="roundRect">
            <a:avLst>
              <a:gd name="adj" fmla="val 4138"/>
            </a:avLst>
          </a:prstGeom>
          <a:solidFill>
            <a:schemeClr val="bg2"/>
          </a:solidFill>
          <a:ln/>
          <a:effectLst>
            <a:outerShdw blurRad="101600" dist="25400" dir="5400000" algn="bl" rotWithShape="0">
              <a:srgbClr val="000000">
                <a:alpha val="12000"/>
              </a:srgbClr>
            </a:outerShdw>
          </a:effectLst>
        </p:spPr>
      </p:sp>
      <p:sp>
        <p:nvSpPr>
          <p:cNvPr id="20" name="SDG 16 tile"/>
          <p:cNvSpPr/>
          <p:nvPr/>
        </p:nvSpPr>
        <p:spPr>
          <a:xfrm>
            <a:off x="9281160" y="1691640"/>
            <a:ext cx="2194560" cy="1097280"/>
          </a:xfrm>
          <a:prstGeom prst="roundRect">
            <a:avLst>
              <a:gd name="adj" fmla="val 8333"/>
            </a:avLst>
          </a:prstGeom>
          <a:solidFill>
            <a:srgbClr val="1B6CA8"/>
          </a:solidFill>
          <a:ln/>
        </p:spPr>
      </p:sp>
      <p:sp>
        <p:nvSpPr>
          <p:cNvPr id="21" name="Text 18"/>
          <p:cNvSpPr txBox="1"/>
          <p:nvPr/>
        </p:nvSpPr>
        <p:spPr>
          <a:xfrm>
            <a:off x="9281160" y="1691640"/>
            <a:ext cx="2194560" cy="10972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SDG</a:t>
            </a:r>
            <a:endParaRPr lang="en-US" sz="1400" dirty="0"/>
          </a:p>
          <a:p>
            <a:pPr marL="0" indent="0" algn="ctr">
              <a:buNone/>
            </a:pPr>
            <a:r>
              <a:rPr lang="en-US" sz="3600" b="1" dirty="0">
                <a:solidFill>
                  <a:schemeClr val="bg1"/>
                </a:solidFill>
                <a:latin typeface="Cambria" pitchFamily="34" charset="0"/>
                <a:ea typeface="Cambria" pitchFamily="34" charset="-122"/>
                <a:cs typeface="Cambria" pitchFamily="34" charset="-120"/>
              </a:rPr>
              <a:t>16</a:t>
            </a:r>
            <a:endParaRPr lang="en-US" sz="1400" dirty="0"/>
          </a:p>
        </p:txBody>
      </p:sp>
      <p:sp>
        <p:nvSpPr>
          <p:cNvPr id="22" name="Text 19"/>
          <p:cNvSpPr txBox="1"/>
          <p:nvPr/>
        </p:nvSpPr>
        <p:spPr>
          <a:xfrm>
            <a:off x="9281160" y="2971800"/>
            <a:ext cx="2194560" cy="73152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Strong Institutions</a:t>
            </a:r>
            <a:endParaRPr lang="en-US" sz="1700" dirty="0"/>
          </a:p>
        </p:txBody>
      </p:sp>
      <p:sp>
        <p:nvSpPr>
          <p:cNvPr id="23" name="Text 20"/>
          <p:cNvSpPr txBox="1"/>
          <p:nvPr/>
        </p:nvSpPr>
        <p:spPr>
          <a:xfrm>
            <a:off x="9281160" y="3749040"/>
            <a:ext cx="2194560" cy="21945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Clear rules, explanations, human review and an audit log keep the use of AI accountable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600" b="1" dirty="0">
                <a:solidFill>
                  <a:schemeClr val="tx2"/>
                </a:solidFill>
                <a:latin typeface="Cambria" pitchFamily="34" charset="0"/>
                <a:ea typeface="Cambria" pitchFamily="34" charset="-122"/>
                <a:cs typeface="Cambria" pitchFamily="34" charset="-120"/>
              </a:rPr>
              <a:t>Implemented versus planned</a:t>
            </a:r>
            <a:endParaRPr lang="en-US" sz="3600" dirty="0"/>
          </a:p>
        </p:txBody>
      </p:sp>
      <p:sp>
        <p:nvSpPr>
          <p:cNvPr id="4" name="implemented card"/>
          <p:cNvSpPr/>
          <p:nvPr/>
        </p:nvSpPr>
        <p:spPr>
          <a:xfrm>
            <a:off x="548640" y="1463040"/>
            <a:ext cx="6309360" cy="4389120"/>
          </a:xfrm>
          <a:prstGeom prst="roundRect">
            <a:avLst>
              <a:gd name="adj" fmla="val 2500"/>
            </a:avLst>
          </a:prstGeom>
          <a:solidFill>
            <a:schemeClr val="bg2"/>
          </a:solidFill>
          <a:ln/>
          <a:effectLst>
            <a:outerShdw blurRad="101600" dist="25400" dir="5400000" algn="bl" rotWithShape="0">
              <a:srgbClr val="000000">
                <a:alpha val="12000"/>
              </a:srgbClr>
            </a:outerShdw>
          </a:effectLst>
        </p:spPr>
      </p:sp>
      <p:sp>
        <p:nvSpPr>
          <p:cNvPr id="5" name="planned card"/>
          <p:cNvSpPr/>
          <p:nvPr/>
        </p:nvSpPr>
        <p:spPr>
          <a:xfrm>
            <a:off x="7132320" y="1463040"/>
            <a:ext cx="4480560" cy="4389120"/>
          </a:xfrm>
          <a:prstGeom prst="roundRect">
            <a:avLst>
              <a:gd name="adj" fmla="val 2500"/>
            </a:avLst>
          </a:prstGeom>
          <a:solidFill>
            <a:schemeClr val="bg2"/>
          </a:solidFill>
          <a:ln/>
          <a:effectLst>
            <a:outerShdw blurRad="101600" dist="25400" dir="5400000" algn="bl" rotWithShape="0">
              <a:srgbClr val="000000">
                <a:alpha val="12000"/>
              </a:srgbClr>
            </a:outerShdw>
          </a:effectLst>
        </p:spPr>
      </p:sp>
      <p:sp>
        <p:nvSpPr>
          <p:cNvPr id="6" name="implemented chip"/>
          <p:cNvSpPr/>
          <p:nvPr/>
        </p:nvSpPr>
        <p:spPr>
          <a:xfrm>
            <a:off x="777240" y="1691640"/>
            <a:ext cx="1828800" cy="411480"/>
          </a:xfrm>
          <a:prstGeom prst="roundRect">
            <a:avLst>
              <a:gd name="adj" fmla="val 48889"/>
            </a:avLst>
          </a:prstGeom>
          <a:solidFill>
            <a:schemeClr val="accent2"/>
          </a:solidFill>
          <a:ln/>
        </p:spPr>
      </p:sp>
      <p:sp>
        <p:nvSpPr>
          <p:cNvPr id="7" name="Text 4"/>
          <p:cNvSpPr txBox="1"/>
          <p:nvPr/>
        </p:nvSpPr>
        <p:spPr>
          <a:xfrm>
            <a:off x="777240" y="1691640"/>
            <a:ext cx="1828800" cy="4114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Implemented</a:t>
            </a:r>
            <a:endParaRPr lang="en-US" sz="1400" dirty="0"/>
          </a:p>
        </p:txBody>
      </p:sp>
      <p:sp>
        <p:nvSpPr>
          <p:cNvPr id="8" name="Text 5"/>
          <p:cNvSpPr txBox="1"/>
          <p:nvPr/>
        </p:nvSpPr>
        <p:spPr>
          <a:xfrm>
            <a:off x="777240" y="2286000"/>
            <a:ext cx="5852160" cy="3749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Synthetic data generator, seven patterns, injected defects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Cleaning and data-quality report</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As-of-week features, no look-ahead</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Rules with M1–M3, persistence, abstention</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Logistic regression + decision-tree cross-check</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Explanations with blame-word guard</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Review store, override logic, audit log</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Seven-page dashboard with what-if sliders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Evaluation, ablation, stress tests, fairness audit</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25 automated tests</a:t>
            </a:r>
            <a:endParaRPr lang="en-US" sz="1400" dirty="0"/>
          </a:p>
        </p:txBody>
      </p:sp>
      <p:sp>
        <p:nvSpPr>
          <p:cNvPr id="9" name="planned chip"/>
          <p:cNvSpPr/>
          <p:nvPr/>
        </p:nvSpPr>
        <p:spPr>
          <a:xfrm>
            <a:off x="7360920" y="1691640"/>
            <a:ext cx="1554480" cy="411480"/>
          </a:xfrm>
          <a:prstGeom prst="roundRect">
            <a:avLst>
              <a:gd name="adj" fmla="val 48889"/>
            </a:avLst>
          </a:prstGeom>
          <a:solidFill>
            <a:schemeClr val="accent3"/>
          </a:solidFill>
          <a:ln/>
        </p:spPr>
      </p:sp>
      <p:sp>
        <p:nvSpPr>
          <p:cNvPr id="10" name="Text 7"/>
          <p:cNvSpPr txBox="1"/>
          <p:nvPr/>
        </p:nvSpPr>
        <p:spPr>
          <a:xfrm>
            <a:off x="7360920" y="1691640"/>
            <a:ext cx="1554480" cy="4114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Planned</a:t>
            </a:r>
            <a:endParaRPr lang="en-US" sz="1400" dirty="0"/>
          </a:p>
        </p:txBody>
      </p:sp>
      <p:sp>
        <p:nvSpPr>
          <p:cNvPr id="11" name="Text 8"/>
          <p:cNvSpPr txBox="1"/>
          <p:nvPr/>
        </p:nvSpPr>
        <p:spPr>
          <a:xfrm>
            <a:off x="7360920" y="2286000"/>
            <a:ext cx="402336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Real LMS and attendance data</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Login, roles and encryption</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Student notice and opt-out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Held-out-only ML reporting</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Pilot with one course team</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Formal accessibility audit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188720"/>
          </a:xfrm>
          <a:prstGeom prst="rect">
            <a:avLst/>
          </a:prstGeom>
          <a:noFill/>
          <a:ln/>
        </p:spPr>
        <p:txBody>
          <a:bodyPr wrap="square" lIns="0" tIns="0" rIns="0" bIns="0" rtlCol="0" anchor="ctr"/>
          <a:lstStyle/>
          <a:p>
            <a:pPr marL="0" indent="0" algn="l">
              <a:buNone/>
            </a:pPr>
            <a:r>
              <a:rPr lang="en-US" sz="5400" b="1" dirty="0">
                <a:solidFill>
                  <a:schemeClr val="bg1"/>
                </a:solidFill>
                <a:latin typeface="Cambria" pitchFamily="34" charset="0"/>
                <a:ea typeface="Cambria" pitchFamily="34" charset="-122"/>
                <a:cs typeface="Cambria" pitchFamily="34" charset="-120"/>
              </a:rPr>
              <a:t>Nobody who needs a hand goes unnoticed</a:t>
            </a:r>
            <a:endParaRPr lang="en-US" sz="5400" dirty="0"/>
          </a:p>
        </p:txBody>
      </p:sp>
      <p:sp>
        <p:nvSpPr>
          <p:cNvPr id="3" name="Accurate enough card"/>
          <p:cNvSpPr/>
          <p:nvPr/>
        </p:nvSpPr>
        <p:spPr>
          <a:xfrm>
            <a:off x="731520" y="3383280"/>
            <a:ext cx="3383280" cy="1737360"/>
          </a:xfrm>
          <a:prstGeom prst="roundRect">
            <a:avLst>
              <a:gd name="adj" fmla="val 6316"/>
            </a:avLst>
          </a:prstGeom>
          <a:solidFill>
            <a:schemeClr val="accent1"/>
          </a:solidFill>
          <a:ln w="19050">
            <a:solidFill>
              <a:schemeClr val="accent2"/>
            </a:solidFill>
            <a:prstDash val="solid"/>
          </a:ln>
        </p:spPr>
      </p:sp>
      <p:sp>
        <p:nvSpPr>
          <p:cNvPr id="4" name="Text 2"/>
          <p:cNvSpPr txBox="1"/>
          <p:nvPr/>
        </p:nvSpPr>
        <p:spPr>
          <a:xfrm>
            <a:off x="960120" y="3383280"/>
            <a:ext cx="2926080" cy="1737360"/>
          </a:xfrm>
          <a:prstGeom prst="rect">
            <a:avLst/>
          </a:prstGeom>
          <a:noFill/>
          <a:ln/>
        </p:spPr>
        <p:txBody>
          <a:bodyPr wrap="square" lIns="0" tIns="0" rIns="0" bIns="0" rtlCol="0" anchor="ctr"/>
          <a:lstStyle/>
          <a:p>
            <a:pPr marL="0" indent="0">
              <a:spcAft>
                <a:spcPts val="600"/>
              </a:spcAft>
              <a:buNone/>
            </a:pPr>
            <a:r>
              <a:rPr lang="en-US" sz="2000" b="1" dirty="0">
                <a:solidFill>
                  <a:schemeClr val="bg1"/>
                </a:solidFill>
                <a:latin typeface="Cambria" pitchFamily="34" charset="0"/>
                <a:ea typeface="Cambria" pitchFamily="34" charset="-122"/>
                <a:cs typeface="Cambria" pitchFamily="34" charset="-120"/>
              </a:rPr>
              <a:t>Accurate enough</a:t>
            </a:r>
            <a:endParaRPr lang="en-US" sz="1400" dirty="0"/>
          </a:p>
          <a:p>
            <a:pPr marL="0" indent="0">
              <a:spcAft>
                <a:spcPts val="600"/>
              </a:spcAft>
              <a:buNone/>
            </a:pPr>
            <a:r>
              <a:rPr lang="en-US" sz="1400" dirty="0">
                <a:solidFill>
                  <a:schemeClr val="bg1"/>
                </a:solidFill>
                <a:latin typeface="Calibri" pitchFamily="34" charset="0"/>
                <a:ea typeface="Calibri" pitchFamily="34" charset="-122"/>
                <a:cs typeface="Calibri" pitchFamily="34" charset="-120"/>
              </a:rPr>
              <a:t>F1 0.885, 23% flagged, no false positives at Week 10</a:t>
            </a:r>
            <a:endParaRPr lang="en-US" sz="1400" dirty="0"/>
          </a:p>
        </p:txBody>
      </p:sp>
      <p:sp>
        <p:nvSpPr>
          <p:cNvPr id="5" name="Clear enough card"/>
          <p:cNvSpPr/>
          <p:nvPr/>
        </p:nvSpPr>
        <p:spPr>
          <a:xfrm>
            <a:off x="4389120" y="3383280"/>
            <a:ext cx="3383280" cy="1737360"/>
          </a:xfrm>
          <a:prstGeom prst="roundRect">
            <a:avLst>
              <a:gd name="adj" fmla="val 6316"/>
            </a:avLst>
          </a:prstGeom>
          <a:solidFill>
            <a:schemeClr val="accent1"/>
          </a:solidFill>
          <a:ln w="19050">
            <a:solidFill>
              <a:schemeClr val="accent2"/>
            </a:solidFill>
            <a:prstDash val="solid"/>
          </a:ln>
        </p:spPr>
      </p:sp>
      <p:sp>
        <p:nvSpPr>
          <p:cNvPr id="6" name="Text 4"/>
          <p:cNvSpPr txBox="1"/>
          <p:nvPr/>
        </p:nvSpPr>
        <p:spPr>
          <a:xfrm>
            <a:off x="4617720" y="3383280"/>
            <a:ext cx="2926080" cy="1737360"/>
          </a:xfrm>
          <a:prstGeom prst="rect">
            <a:avLst/>
          </a:prstGeom>
          <a:noFill/>
          <a:ln/>
        </p:spPr>
        <p:txBody>
          <a:bodyPr wrap="square" lIns="0" tIns="0" rIns="0" bIns="0" rtlCol="0" anchor="ctr"/>
          <a:lstStyle/>
          <a:p>
            <a:pPr marL="0" indent="0">
              <a:spcAft>
                <a:spcPts val="600"/>
              </a:spcAft>
              <a:buNone/>
            </a:pPr>
            <a:r>
              <a:rPr lang="en-US" sz="2000" b="1" dirty="0">
                <a:solidFill>
                  <a:schemeClr val="bg1"/>
                </a:solidFill>
                <a:latin typeface="Cambria" pitchFamily="34" charset="0"/>
                <a:ea typeface="Cambria" pitchFamily="34" charset="-122"/>
                <a:cs typeface="Cambria" pitchFamily="34" charset="-120"/>
              </a:rPr>
              <a:t>Clear enough</a:t>
            </a:r>
            <a:endParaRPr lang="en-US" sz="1400" dirty="0"/>
          </a:p>
          <a:p>
            <a:pPr marL="0" indent="0">
              <a:spcAft>
                <a:spcPts val="600"/>
              </a:spcAft>
              <a:buNone/>
            </a:pPr>
            <a:r>
              <a:rPr lang="en-US" sz="1400" dirty="0">
                <a:solidFill>
                  <a:schemeClr val="bg1"/>
                </a:solidFill>
                <a:latin typeface="Calibri" pitchFamily="34" charset="0"/>
                <a:ea typeface="Calibri" pitchFamily="34" charset="-122"/>
                <a:cs typeface="Calibri" pitchFamily="34" charset="-120"/>
              </a:rPr>
              <a:t>Every flag explained, reviewed and logged</a:t>
            </a:r>
            <a:endParaRPr lang="en-US" sz="1400" dirty="0"/>
          </a:p>
        </p:txBody>
      </p:sp>
      <p:sp>
        <p:nvSpPr>
          <p:cNvPr id="7" name="Gentle enough card"/>
          <p:cNvSpPr/>
          <p:nvPr/>
        </p:nvSpPr>
        <p:spPr>
          <a:xfrm>
            <a:off x="8046720" y="3383280"/>
            <a:ext cx="3383280" cy="1737360"/>
          </a:xfrm>
          <a:prstGeom prst="roundRect">
            <a:avLst>
              <a:gd name="adj" fmla="val 6316"/>
            </a:avLst>
          </a:prstGeom>
          <a:solidFill>
            <a:schemeClr val="accent1"/>
          </a:solidFill>
          <a:ln w="19050">
            <a:solidFill>
              <a:schemeClr val="accent2"/>
            </a:solidFill>
            <a:prstDash val="solid"/>
          </a:ln>
        </p:spPr>
      </p:sp>
      <p:sp>
        <p:nvSpPr>
          <p:cNvPr id="8" name="Text 6"/>
          <p:cNvSpPr txBox="1"/>
          <p:nvPr/>
        </p:nvSpPr>
        <p:spPr>
          <a:xfrm>
            <a:off x="8275320" y="3383280"/>
            <a:ext cx="2926080" cy="1737360"/>
          </a:xfrm>
          <a:prstGeom prst="rect">
            <a:avLst/>
          </a:prstGeom>
          <a:noFill/>
          <a:ln/>
        </p:spPr>
        <p:txBody>
          <a:bodyPr wrap="square" lIns="0" tIns="0" rIns="0" bIns="0" rtlCol="0" anchor="ctr"/>
          <a:lstStyle/>
          <a:p>
            <a:pPr marL="0" indent="0">
              <a:spcAft>
                <a:spcPts val="600"/>
              </a:spcAft>
              <a:buNone/>
            </a:pPr>
            <a:r>
              <a:rPr lang="en-US" sz="2000" b="1" dirty="0">
                <a:solidFill>
                  <a:schemeClr val="bg1"/>
                </a:solidFill>
                <a:latin typeface="Cambria" pitchFamily="34" charset="0"/>
                <a:ea typeface="Cambria" pitchFamily="34" charset="-122"/>
                <a:cs typeface="Cambria" pitchFamily="34" charset="-120"/>
              </a:rPr>
              <a:t>Gentle enough</a:t>
            </a:r>
            <a:endParaRPr lang="en-US" sz="1400" dirty="0"/>
          </a:p>
          <a:p>
            <a:pPr marL="0" indent="0">
              <a:spcAft>
                <a:spcPts val="600"/>
              </a:spcAft>
              <a:buNone/>
            </a:pPr>
            <a:r>
              <a:rPr lang="en-US" sz="1400" dirty="0">
                <a:solidFill>
                  <a:schemeClr val="bg1"/>
                </a:solidFill>
                <a:latin typeface="Calibri" pitchFamily="34" charset="0"/>
                <a:ea typeface="Calibri" pitchFamily="34" charset="-122"/>
                <a:cs typeface="Calibri" pitchFamily="34" charset="-120"/>
              </a:rPr>
              <a:t>Supportive wording; humans decide; failures reported</a:t>
            </a:r>
            <a:endParaRPr lang="en-US" sz="1400" dirty="0"/>
          </a:p>
        </p:txBody>
      </p:sp>
      <p:sp>
        <p:nvSpPr>
          <p:cNvPr id="9" name="Text 7"/>
          <p:cNvSpPr txBox="1"/>
          <p:nvPr/>
        </p:nvSpPr>
        <p:spPr>
          <a:xfrm>
            <a:off x="731520" y="5577840"/>
            <a:ext cx="10698480" cy="548640"/>
          </a:xfrm>
          <a:prstGeom prst="rect">
            <a:avLst/>
          </a:prstGeom>
          <a:noFill/>
          <a:ln/>
        </p:spPr>
        <p:txBody>
          <a:bodyPr wrap="square" lIns="0" tIns="0" rIns="0" bIns="0" rtlCol="0" anchor="t"/>
          <a:lstStyle/>
          <a:p>
            <a:pPr marL="0" indent="0">
              <a:buNone/>
            </a:pPr>
            <a:r>
              <a:rPr lang="en-US" sz="1800" b="1" dirty="0">
                <a:solidFill>
                  <a:schemeClr val="accent4"/>
                </a:solidFill>
                <a:latin typeface="Calibri" pitchFamily="34" charset="0"/>
                <a:ea typeface="Calibri" pitchFamily="34" charset="-122"/>
                <a:cs typeface="Calibri" pitchFamily="34" charset="-120"/>
              </a:rPr>
              <a:t>Next: real-data validation, security, accessibility audit, governed pilot.   Thank you.</a:t>
            </a:r>
            <a:endParaRPr lang="en-US" sz="1800" dirty="0"/>
          </a:p>
        </p:txBody>
      </p:sp>
    </p:spTree>
  </p:cSld>
  <p:clrMapOvr>
    <a:masterClrMapping/>
  </p:clrMapOvr>
</p:sld>
</file>

<file path=ppt/theme/theme1.xml><?xml version="1.0" encoding="utf-8"?>
<a:theme xmlns:a="http://schemas.openxmlformats.org/drawingml/2006/main" name="SupportLens">
  <a:themeElements>
    <a:clrScheme name="SupportLens">
      <a:dk1>
        <a:srgbClr val="1B2A33"/>
      </a:dk1>
      <a:lt1>
        <a:srgbClr val="FFFFFF"/>
      </a:lt1>
      <a:dk2>
        <a:srgbClr val="0F4C5C"/>
      </a:dk2>
      <a:lt2>
        <a:srgbClr val="EAF4F4"/>
      </a:lt2>
      <a:accent1>
        <a:srgbClr val="0F4C5C"/>
      </a:accent1>
      <a:accent2>
        <a:srgbClr val="2A9D8F"/>
      </a:accent2>
      <a:accent3>
        <a:srgbClr val="E76F51"/>
      </a:accent3>
      <a:accent4>
        <a:srgbClr val="F4A261"/>
      </a:accent4>
      <a:accent5>
        <a:srgbClr val="8AB17D"/>
      </a:accent5>
      <a:accent6>
        <a:srgbClr val="5C6B73"/>
      </a:accent6>
      <a:hlink>
        <a:srgbClr val="2A9D8F"/>
      </a:hlink>
      <a:folHlink>
        <a:srgbClr val="5C6B73"/>
      </a:folHlink>
    </a:clrScheme>
    <a:fontScheme name="SupportLe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2028</Words>
  <Application>Microsoft Office PowerPoint</Application>
  <PresentationFormat>Widescreen</PresentationFormat>
  <Paragraphs>300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SupportLens</vt:lpstr>
      <vt:lpstr>SupportLens</vt:lpstr>
      <vt:lpstr>The problem and who it is for</vt:lpstr>
      <vt:lpstr>Our idea: four parts, one rule</vt:lpstr>
      <vt:lpstr>What makes it different</vt:lpstr>
      <vt:lpstr>System architecture</vt:lpstr>
      <vt:lpstr>Dataset: synthetic by design</vt:lpstr>
      <vt:lpstr>How a support level is decided</vt:lpstr>
      <vt:lpstr>Prototype workflow</vt:lpstr>
      <vt:lpstr>Two students, two outcomes</vt:lpstr>
      <vt:lpstr>Results at Week 10</vt:lpstr>
      <vt:lpstr>Where it fails, and what we learned</vt:lpstr>
      <vt:lpstr>Robustness and fairness</vt:lpstr>
      <vt:lpstr>Responsible-AI considerations</vt:lpstr>
      <vt:lpstr>SDG alignment</vt:lpstr>
      <vt:lpstr>Implemented versus planned</vt:lpstr>
      <vt:lpstr>Nobody who needs a hand goes unnoticed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SupportLens</dc:title>
  <dc:subject>PptxGenJS Presentation</dc:subject>
  <dc:creator>Arpita Sinha, Avani Abhay Chaudhari, Agrani Anupam</dc:creator>
  <cp:lastModifiedBy>Avani Abhay Chaudhari</cp:lastModifiedBy>
  <cp:revision>2</cp:revision>
  <dcterms:created xsi:type="dcterms:W3CDTF">2026-10-24T22:24:36Z</dcterms:created>
  <dcterms:modified xsi:type="dcterms:W3CDTF">2026-10-24T22:52:36Z</dcterms:modified>
</cp:coreProperties>
</file>